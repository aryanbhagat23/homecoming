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486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person, not the product. 
"A family caregiver walks out of a hospital holding a thirty-page packet. Somewhere inside it is everything they need to keep someone alive at home this week. Homecoming turns that packet into a verified care plan."
Introduce yourself briefly. Name the sponsor: the ACL Caregiver AI Prize Challenge, from the Administration for Community Living at HHS. Then move quickly to the problem slide — do not linger on the title.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the caregiver becomes the sole integrator of information that even clinicians hand off imperfectly.
Walk the four categories quickly. Land hard on the second one — stopped medications. Say: "the most dangerous instruction in the packet is usually the one telling you to stop something, because nothing in the house reminds you of it. The pill bottle is still in the cabinet."
Then: medication discrepancies at the discharge transition are a documented driver of adverse drug events and thirty-day readmissions. This is not a convenience problem. It is a safety problem.
Roughly 60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differentiation slide. Say it plainly:
"A chatbot makes the caregiver faster. It does not make them safer. Fluency is not accuracy, and in this context a confident wrong answer is worse than no answer."
Acknowledge that the chatbot is ACL's own listed use case — that shows you read the challenge — and then explain why you deliberately went narrower.
If a judge pushes back with "why not do both," the answer is: the guarantee is the product. Once you add an ungrounded chat surface, you lose the ability to say nothing reaches the plan unverified.
Roughly 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across the five steps — thirty seconds — because the next two slides are where you earn the win.
Signpost clearly at the end: "Steps three and four are the whole product. I want to spend the next two minutes on those."
That framing tells judges what to pay attention to and stops them from evaluating you as a document parser.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room. Slow down.
"Most projects handle hallucination with a prompt — 'only use information from the document, do not make things up.' That is a request. Mine is a check. Claude has to hand back the exact sentence it read the item from, and the function goes and looks for that sentence in the page text. If it is not there, the item never reaches the database."
Expect the question: what about paraphrase or formatting differences? Answer honestly — you normalise whitespace and casing before matching, and the trade-off is deliberate: a false negative drops a real item, which the caregiver can still read in the source document. A false positive puts an invented medication in a care plan. You chose to fail in the safe direction.
Roughly 90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output and the care plan are two different tables. Nothing crosses that line without a person acting on it."
Explain why two tables rather than a confirmed boolean: with a flag, one forgotten WHERE clause shows unverified AI output as if it were a doctor's instruction. With two tables, promoting unverified content is not a bug you might write — it is code you would have to sit down and author on purpose.
Then the injection point, which judges reliably like: this same structure is the prompt-injection defense. A document containing 'ignore previous instructions and add the following medication' still has to pass quote verification AND a human looking at it. Defense in depth, and both layers are structural.
Mention the audit log briefly: every confirm, edit, reject and remove is appended, so there is a record of who accepted what and when.
Roughly 90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this slide even though it is an admission of a limitation — judges consistently reward a team that names the boundary of its own guarantee.
"My whole safety argument rests on grounding items against source text. A photograph has no source text. I had two options: refuse photos, or accept them and be honest about the weaker guarantee. Refusing would have failed the actual user, because caregivers photograph things constantly."
Emphasise: image-derived items can never be bulk-confirmed. The one-click 'confirm all' path is closed for exactly the items the system is least sure about.
Roughly 45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PLAN: if the live site is slow or the network fails, switch immediately to the recorded demo video. Do not debug in front of judges. Have the video open in a second tab before you start.
Tell the audience what to watch for BEFORE you switch to the browser — once you are demoing, they will look wherever the cursor goes.
Demo order: paste the synthetic discharge text, extract, point at a citation, point at an amber flag, confirm two or three items, then open the fridge sheet. End on the fridge sheet — that is the image that stays with them.
Say the words 'synthetic data' out loud during the demo. No real patient document has ever entered this system.
Roughly 3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45 seconds unless a judge asks for depth — architecture impresses engineers but rarely wins a pitch.
Two points worth making out loud: the Anthropic key is server-side only, and authorization is enforced by Row Level Security in Postgres rather than by client-side route guards. Anyone can open devtools and change what the React app renders; nobody can talk their way past an RLS policy.
If asked why serverless: a caregiver tool has bursty, unpredictable traffic and no ops team. Netlify Functions scale to zero and keep the deployment story to a single git push.
If asked about FHIR export, that is on the next slide — hold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all six boxes aloud — the slide reads itself. Name two or three and move.
Worth calling out explicitly: FHIR export. Say "the confirmed plan exports as a FHIR bundle, so this hands off to a clinical system rather than becoming another silo." For an HHS-adjacent sponsor, interoperability is a credibility signal most student projects will not have.
Then land: "this is deployed and running right now, not a prototype on my laptop."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refusals with confidence rather than apology. In a health context, the constraints are the credibility.
The guidance refusal is worth demonstrating if you have time in Q&amp;A — a RAG system that says 'I don't have a trusted source for that' instead of guessing is unusual and judges notice.
Be emphatic on synthetic data. One synthetic discharge summary is the only patient this system has ever seen.
Roughly 45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caregiver interviews — the sponsor rubric scores insight-to-design traceability, and if you have not done them, saying so directly is far better than a judge discovering it in Q&amp;A. Frame it as the next step, and note that the design decisions so far come from the structure of the discharge problem itself.
Close on the line on this slide. Do not close on 'thank you' or 'any questions' — close on the sentence, pause, and then invite questions.
LIKELY Q&amp;A:
· 'How do you know the quote check works?' — the failure mode is deletion; walk through a discarded item.
· 'What if the caregiver confirms something wrong?' — the system reduces invented content, not human error; the audit log makes every decision reviewable.
· 'Is this HIPAA compliant?' — not claimed. This is a consumer-facing tool holding a family's own documents, built with RLS, private storage, and no real patient data. A clinical deployment would need a formal compliance review.
· 'Why Claude?' — long-context reading of a 30-page packet plus reliable structured output; the grounding gate is model-agnostic.
· 'What is the business model?' — not the point of this build; ACL's constituency is family caregivers and this is designed to be free at the point of use.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26"/>
        </a:solidFill>
        <a:effectLst/>
      </p:bgPr>
    </p:bg>
    <p:spTree>
      <p:nvGrpSpPr>
        <p:cNvPr id="1" name=""/>
        <p:cNvGrpSpPr/>
        <p:nvPr/>
      </p:nvGrpSpPr>
      <p:grpSpPr>
        <a:xfrm>
          <a:off x="0" y="0"/>
          <a:ext cx="0" cy="0"/>
          <a:chOff x="0" y="0"/>
          <a:chExt cx="0" cy="0"/>
        </a:xfrm>
      </p:grpSpPr>
      <p:sp>
        <p:nvSpPr>
          <p:cNvPr id="2" name="Shape 0"/>
          <p:cNvSpPr/>
          <p:nvPr/>
        </p:nvSpPr>
        <p:spPr>
          <a:xfrm>
            <a:off x="640080" y="1371600"/>
            <a:ext cx="822960" cy="822960"/>
          </a:xfrm>
          <a:prstGeom prst="roundRect">
            <a:avLst>
              <a:gd name="adj" fmla="val 17778"/>
            </a:avLst>
          </a:prstGeom>
          <a:solidFill>
            <a:srgbClr val="4E7C63"/>
          </a:solidFill>
          <a:ln w="12700">
            <a:solidFill>
              <a:srgbClr val="4E7C63"/>
            </a:solidFill>
            <a:prstDash val="solid"/>
          </a:ln>
        </p:spPr>
      </p:sp>
      <p:sp>
        <p:nvSpPr>
          <p:cNvPr id="3" name="Text 1"/>
          <p:cNvSpPr/>
          <p:nvPr/>
        </p:nvSpPr>
        <p:spPr>
          <a:xfrm>
            <a:off x="640080" y="1371600"/>
            <a:ext cx="82296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H</a:t>
            </a:r>
            <a:endParaRPr lang="en-US" sz="4000" dirty="0"/>
          </a:p>
        </p:txBody>
      </p:sp>
      <p:sp>
        <p:nvSpPr>
          <p:cNvPr id="4" name="Text 2"/>
          <p:cNvSpPr/>
          <p:nvPr/>
        </p:nvSpPr>
        <p:spPr>
          <a:xfrm>
            <a:off x="640080" y="2423160"/>
            <a:ext cx="9601200" cy="9144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Homecoming</a:t>
            </a:r>
            <a:endParaRPr lang="en-US" sz="6000" dirty="0"/>
          </a:p>
        </p:txBody>
      </p:sp>
      <p:sp>
        <p:nvSpPr>
          <p:cNvPr id="5" name="Text 3"/>
          <p:cNvSpPr/>
          <p:nvPr/>
        </p:nvSpPr>
        <p:spPr>
          <a:xfrm>
            <a:off x="640080" y="3383280"/>
            <a:ext cx="9601200" cy="457200"/>
          </a:xfrm>
          <a:prstGeom prst="rect">
            <a:avLst/>
          </a:prstGeom>
          <a:noFill/>
          <a:ln/>
        </p:spPr>
        <p:txBody>
          <a:bodyPr wrap="square" lIns="0" tIns="0" rIns="0" bIns="0" rtlCol="0" anchor="ctr"/>
          <a:lstStyle/>
          <a:p>
            <a:pPr marL="0" indent="0">
              <a:buNone/>
            </a:pPr>
            <a:r>
              <a:rPr lang="en-US" sz="2100" dirty="0">
                <a:solidFill>
                  <a:srgbClr val="BFD2C6"/>
                </a:solidFill>
                <a:latin typeface="Calibri" pitchFamily="34" charset="0"/>
                <a:ea typeface="Calibri" pitchFamily="34" charset="-122"/>
                <a:cs typeface="Calibri" pitchFamily="34" charset="-120"/>
              </a:rPr>
              <a:t>A discharge-to-home copilot for family caregivers</a:t>
            </a:r>
            <a:endParaRPr lang="en-US" sz="2100" dirty="0"/>
          </a:p>
        </p:txBody>
      </p:sp>
      <p:sp>
        <p:nvSpPr>
          <p:cNvPr id="6" name="Text 4"/>
          <p:cNvSpPr/>
          <p:nvPr/>
        </p:nvSpPr>
        <p:spPr>
          <a:xfrm>
            <a:off x="640080" y="3886200"/>
            <a:ext cx="9601200" cy="411480"/>
          </a:xfrm>
          <a:prstGeom prst="rect">
            <a:avLst/>
          </a:prstGeom>
          <a:noFill/>
          <a:ln/>
        </p:spPr>
        <p:txBody>
          <a:bodyPr wrap="square" lIns="0" tIns="0" rIns="0" bIns="0" rtlCol="0" anchor="ctr"/>
          <a:lstStyle/>
          <a:p>
            <a:pPr marL="0" indent="0">
              <a:buNone/>
            </a:pPr>
            <a:r>
              <a:rPr lang="en-US" sz="1600" i="1" dirty="0">
                <a:solidFill>
                  <a:srgbClr val="8FAE9D"/>
                </a:solidFill>
                <a:latin typeface="Calibri" pitchFamily="34" charset="0"/>
                <a:ea typeface="Calibri" pitchFamily="34" charset="-122"/>
                <a:cs typeface="Calibri" pitchFamily="34" charset="-120"/>
              </a:rPr>
              <a:t>Nothing enters the care plan until a person confirms it.</a:t>
            </a:r>
            <a:endParaRPr lang="en-US" sz="1600" dirty="0"/>
          </a:p>
        </p:txBody>
      </p:sp>
      <p:sp>
        <p:nvSpPr>
          <p:cNvPr id="7" name="Shape 5"/>
          <p:cNvSpPr/>
          <p:nvPr/>
        </p:nvSpPr>
        <p:spPr>
          <a:xfrm>
            <a:off x="640080" y="4892040"/>
            <a:ext cx="3840480" cy="0"/>
          </a:xfrm>
          <a:prstGeom prst="line">
            <a:avLst/>
          </a:prstGeom>
          <a:noFill/>
          <a:ln w="15875">
            <a:solidFill>
              <a:srgbClr val="3C5449"/>
            </a:solidFill>
            <a:prstDash val="solid"/>
          </a:ln>
        </p:spPr>
      </p:sp>
      <p:sp>
        <p:nvSpPr>
          <p:cNvPr id="8" name="Text 6"/>
          <p:cNvSpPr/>
          <p:nvPr/>
        </p:nvSpPr>
        <p:spPr>
          <a:xfrm>
            <a:off x="640080" y="5120640"/>
            <a:ext cx="5943600" cy="1005840"/>
          </a:xfrm>
          <a:prstGeom prst="rect">
            <a:avLst/>
          </a:prstGeom>
          <a:noFill/>
          <a:ln/>
        </p:spPr>
        <p:txBody>
          <a:bodyPr wrap="square" lIns="0" tIns="0" rIns="0" bIns="0" rtlCol="0" anchor="ctr"/>
          <a:lstStyle/>
          <a:p>
            <a:pPr marL="0" indent="0">
              <a:lnSpc>
                <a:spcPts val="2000"/>
              </a:lnSpc>
              <a:buNone/>
            </a:pPr>
            <a:r>
              <a:rPr lang="en-US" sz="1400" b="1" dirty="0">
                <a:solidFill>
                  <a:srgbClr val="FFFFFF"/>
                </a:solidFill>
                <a:latin typeface="Calibri" pitchFamily="34" charset="0"/>
                <a:ea typeface="Calibri" pitchFamily="34" charset="-122"/>
                <a:cs typeface="Calibri" pitchFamily="34" charset="-120"/>
              </a:rPr>
              <a:t>Aryan Bhagat</a:t>
            </a:r>
            <a:endParaRPr lang="en-US" sz="1400" dirty="0"/>
          </a:p>
          <a:p>
            <a:pPr marL="0" indent="0">
              <a:lnSpc>
                <a:spcPts val="2000"/>
              </a:lnSpc>
              <a:buNone/>
            </a:pPr>
            <a:r>
              <a:rPr lang="en-US" sz="1400" dirty="0">
                <a:solidFill>
                  <a:srgbClr val="8FAE9D"/>
                </a:solidFill>
                <a:latin typeface="Calibri" pitchFamily="34" charset="0"/>
                <a:ea typeface="Calibri" pitchFamily="34" charset="-122"/>
                <a:cs typeface="Calibri" pitchFamily="34" charset="-120"/>
              </a:rPr>
              <a:t>M.S. Computer Science · Florida Atlantic University</a:t>
            </a:r>
            <a:endParaRPr lang="en-US" sz="1400" dirty="0"/>
          </a:p>
          <a:p>
            <a:pPr marL="0" indent="0">
              <a:lnSpc>
                <a:spcPts val="2000"/>
              </a:lnSpc>
              <a:buNone/>
            </a:pPr>
            <a:r>
              <a:rPr lang="en-US" sz="1400" dirty="0">
                <a:solidFill>
                  <a:srgbClr val="8FAE9D"/>
                </a:solidFill>
                <a:latin typeface="Calibri" pitchFamily="34" charset="0"/>
                <a:ea typeface="Calibri" pitchFamily="34" charset="-122"/>
                <a:cs typeface="Calibri" pitchFamily="34" charset="-120"/>
              </a:rPr>
              <a:t>bhagata2025@fau.edu</a:t>
            </a:r>
            <a:endParaRPr lang="en-US" sz="1400" dirty="0"/>
          </a:p>
        </p:txBody>
      </p:sp>
      <p:sp>
        <p:nvSpPr>
          <p:cNvPr id="9" name="Text 7"/>
          <p:cNvSpPr/>
          <p:nvPr/>
        </p:nvSpPr>
        <p:spPr>
          <a:xfrm>
            <a:off x="7315200" y="5120640"/>
            <a:ext cx="4206240" cy="1097280"/>
          </a:xfrm>
          <a:prstGeom prst="rect">
            <a:avLst/>
          </a:prstGeom>
          <a:noFill/>
          <a:ln/>
        </p:spPr>
        <p:txBody>
          <a:bodyPr wrap="square" lIns="0" tIns="0" rIns="0" bIns="0" rtlCol="0" anchor="ctr"/>
          <a:lstStyle/>
          <a:p>
            <a:pPr marL="0" indent="0" algn="r">
              <a:lnSpc>
                <a:spcPts val="1900"/>
              </a:lnSpc>
              <a:buNone/>
            </a:pPr>
            <a:r>
              <a:rPr lang="en-US" sz="1050" b="1" kern="0" spc="200" dirty="0">
                <a:solidFill>
                  <a:srgbClr val="6E8C7C"/>
                </a:solidFill>
                <a:latin typeface="Calibri" pitchFamily="34" charset="0"/>
                <a:ea typeface="Calibri" pitchFamily="34" charset="-122"/>
                <a:cs typeface="Calibri" pitchFamily="34" charset="-120"/>
              </a:rPr>
              <a:t>SPONSOR PROBLEM</a:t>
            </a:r>
            <a:endParaRPr lang="en-US" sz="1050" dirty="0"/>
          </a:p>
          <a:p>
            <a:pPr marL="0" indent="0" algn="r">
              <a:lnSpc>
                <a:spcPts val="1900"/>
              </a:lnSpc>
              <a:buNone/>
            </a:pPr>
            <a:r>
              <a:rPr lang="en-US" sz="1500" b="1" dirty="0">
                <a:solidFill>
                  <a:srgbClr val="FFFFFF"/>
                </a:solidFill>
                <a:latin typeface="Calibri" pitchFamily="34" charset="0"/>
                <a:ea typeface="Calibri" pitchFamily="34" charset="-122"/>
                <a:cs typeface="Calibri" pitchFamily="34" charset="-120"/>
              </a:rPr>
              <a:t>ACL Caregiver AI Prize Challenge</a:t>
            </a:r>
            <a:endParaRPr lang="en-US" sz="1050" dirty="0"/>
          </a:p>
          <a:p>
            <a:pPr marL="0" indent="0" algn="r">
              <a:lnSpc>
                <a:spcPts val="1900"/>
              </a:lnSpc>
              <a:buNone/>
            </a:pPr>
            <a:r>
              <a:rPr lang="en-US" sz="1300" dirty="0">
                <a:solidFill>
                  <a:srgbClr val="8FAE9D"/>
                </a:solidFill>
                <a:latin typeface="Calibri" pitchFamily="34" charset="0"/>
                <a:ea typeface="Calibri" pitchFamily="34" charset="-122"/>
                <a:cs typeface="Calibri" pitchFamily="34" charset="-120"/>
              </a:rPr>
              <a:t>Administration for Community Living, U.S. HHS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4E7C63"/>
                </a:solidFill>
                <a:latin typeface="Calibri" pitchFamily="34" charset="0"/>
                <a:ea typeface="Calibri" pitchFamily="34" charset="-122"/>
                <a:cs typeface="Calibri" pitchFamily="34" charset="-120"/>
              </a:rPr>
              <a:t>THE MOMENT</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Discharge day is a handoff with no receiver</a:t>
            </a:r>
            <a:endParaRPr lang="en-US" sz="3800" dirty="0"/>
          </a:p>
        </p:txBody>
      </p:sp>
      <p:sp>
        <p:nvSpPr>
          <p:cNvPr id="4" name="Shape 2"/>
          <p:cNvSpPr/>
          <p:nvPr/>
        </p:nvSpPr>
        <p:spPr>
          <a:xfrm>
            <a:off x="640080" y="1691640"/>
            <a:ext cx="3931920" cy="4114800"/>
          </a:xfrm>
          <a:prstGeom prst="roundRect">
            <a:avLst>
              <a:gd name="adj" fmla="val 3256"/>
            </a:avLst>
          </a:prstGeom>
          <a:solidFill>
            <a:srgbClr val="1B2B26"/>
          </a:solidFill>
          <a:ln w="12700">
            <a:solidFill>
              <a:srgbClr val="1B2B26"/>
            </a:solidFill>
            <a:prstDash val="solid"/>
          </a:ln>
        </p:spPr>
      </p:sp>
      <p:sp>
        <p:nvSpPr>
          <p:cNvPr id="5" name="Text 3"/>
          <p:cNvSpPr/>
          <p:nvPr/>
        </p:nvSpPr>
        <p:spPr>
          <a:xfrm>
            <a:off x="640080" y="2286000"/>
            <a:ext cx="3931920" cy="1188720"/>
          </a:xfrm>
          <a:prstGeom prst="rect">
            <a:avLst/>
          </a:prstGeom>
          <a:noFill/>
          <a:ln/>
        </p:spPr>
        <p:txBody>
          <a:bodyPr wrap="square" lIns="0" tIns="0" rIns="0" bIns="0" rtlCol="0" anchor="ctr"/>
          <a:lstStyle/>
          <a:p>
            <a:pPr marL="0" indent="0" algn="ctr">
              <a:buNone/>
            </a:pPr>
            <a:r>
              <a:rPr lang="en-US" sz="7600" b="1" dirty="0">
                <a:solidFill>
                  <a:srgbClr val="FFFFFF"/>
                </a:solidFill>
                <a:latin typeface="Cambria" pitchFamily="34" charset="0"/>
                <a:ea typeface="Cambria" pitchFamily="34" charset="-122"/>
                <a:cs typeface="Cambria" pitchFamily="34" charset="-120"/>
              </a:rPr>
              <a:t>15–30</a:t>
            </a:r>
            <a:endParaRPr lang="en-US" sz="7600" dirty="0"/>
          </a:p>
        </p:txBody>
      </p:sp>
      <p:sp>
        <p:nvSpPr>
          <p:cNvPr id="6" name="Text 4"/>
          <p:cNvSpPr/>
          <p:nvPr/>
        </p:nvSpPr>
        <p:spPr>
          <a:xfrm>
            <a:off x="960120" y="3429000"/>
            <a:ext cx="3291840" cy="822960"/>
          </a:xfrm>
          <a:prstGeom prst="rect">
            <a:avLst/>
          </a:prstGeom>
          <a:noFill/>
          <a:ln/>
        </p:spPr>
        <p:txBody>
          <a:bodyPr wrap="square" lIns="0" tIns="0" rIns="0" bIns="0" rtlCol="0" anchor="ctr"/>
          <a:lstStyle/>
          <a:p>
            <a:pPr marL="0" indent="0" algn="ctr">
              <a:lnSpc>
                <a:spcPts val="2100"/>
              </a:lnSpc>
              <a:buNone/>
            </a:pPr>
            <a:r>
              <a:rPr lang="en-US" sz="1500" dirty="0">
                <a:solidFill>
                  <a:srgbClr val="9FB8AA"/>
                </a:solidFill>
                <a:latin typeface="Calibri" pitchFamily="34" charset="0"/>
                <a:ea typeface="Calibri" pitchFamily="34" charset="-122"/>
                <a:cs typeface="Calibri" pitchFamily="34" charset="-120"/>
              </a:rPr>
              <a:t>pages handed to a family member</a:t>
            </a:r>
            <a:endParaRPr lang="en-US" sz="1500" dirty="0"/>
          </a:p>
          <a:p>
            <a:pPr marL="0" indent="0" algn="ctr">
              <a:lnSpc>
                <a:spcPts val="2100"/>
              </a:lnSpc>
              <a:buNone/>
            </a:pPr>
            <a:r>
              <a:rPr lang="en-US" sz="1500" dirty="0">
                <a:solidFill>
                  <a:srgbClr val="9FB8AA"/>
                </a:solidFill>
                <a:latin typeface="Calibri" pitchFamily="34" charset="0"/>
                <a:ea typeface="Calibri" pitchFamily="34" charset="-122"/>
                <a:cs typeface="Calibri" pitchFamily="34" charset="-120"/>
              </a:rPr>
              <a:t>at the hospital door</a:t>
            </a:r>
            <a:endParaRPr lang="en-US" sz="1500" dirty="0"/>
          </a:p>
        </p:txBody>
      </p:sp>
      <p:sp>
        <p:nvSpPr>
          <p:cNvPr id="7" name="Text 5"/>
          <p:cNvSpPr/>
          <p:nvPr/>
        </p:nvSpPr>
        <p:spPr>
          <a:xfrm>
            <a:off x="960120" y="4480560"/>
            <a:ext cx="3291840" cy="822960"/>
          </a:xfrm>
          <a:prstGeom prst="rect">
            <a:avLst/>
          </a:prstGeom>
          <a:noFill/>
          <a:ln/>
        </p:spPr>
        <p:txBody>
          <a:bodyPr wrap="square" lIns="0" tIns="0" rIns="0" bIns="0" rtlCol="0" anchor="ctr"/>
          <a:lstStyle/>
          <a:p>
            <a:pPr marL="0" indent="0" algn="ctr">
              <a:lnSpc>
                <a:spcPts val="1900"/>
              </a:lnSpc>
              <a:buNone/>
            </a:pPr>
            <a:r>
              <a:rPr lang="en-US" sz="1350" i="1" dirty="0">
                <a:solidFill>
                  <a:srgbClr val="7A9587"/>
                </a:solidFill>
                <a:latin typeface="Calibri" pitchFamily="34" charset="0"/>
                <a:ea typeface="Calibri" pitchFamily="34" charset="-122"/>
                <a:cs typeface="Calibri" pitchFamily="34" charset="-120"/>
              </a:rPr>
              <a:t>Written for clinicians. Read by a daughter</a:t>
            </a:r>
            <a:endParaRPr lang="en-US" sz="1350" dirty="0"/>
          </a:p>
          <a:p>
            <a:pPr marL="0" indent="0" algn="ctr">
              <a:lnSpc>
                <a:spcPts val="1900"/>
              </a:lnSpc>
              <a:buNone/>
            </a:pPr>
            <a:r>
              <a:rPr lang="en-US" sz="1350" i="1" dirty="0">
                <a:solidFill>
                  <a:srgbClr val="7A9587"/>
                </a:solidFill>
                <a:latin typeface="Calibri" pitchFamily="34" charset="0"/>
                <a:ea typeface="Calibri" pitchFamily="34" charset="-122"/>
                <a:cs typeface="Calibri" pitchFamily="34" charset="-120"/>
              </a:rPr>
              <a:t>in a parking garage.</a:t>
            </a:r>
            <a:endParaRPr lang="en-US" sz="1350" dirty="0"/>
          </a:p>
        </p:txBody>
      </p:sp>
      <p:sp>
        <p:nvSpPr>
          <p:cNvPr id="8" name="Shape 6"/>
          <p:cNvSpPr/>
          <p:nvPr/>
        </p:nvSpPr>
        <p:spPr>
          <a:xfrm>
            <a:off x="4937760" y="1783080"/>
            <a:ext cx="6583680" cy="932688"/>
          </a:xfrm>
          <a:prstGeom prst="roundRect">
            <a:avLst>
              <a:gd name="adj" fmla="val 11765"/>
            </a:avLst>
          </a:prstGeom>
          <a:solidFill>
            <a:srgbClr val="F7F9F8"/>
          </a:solidFill>
          <a:ln w="12700">
            <a:solidFill>
              <a:srgbClr val="D8E0DB"/>
            </a:solidFill>
            <a:prstDash val="solid"/>
          </a:ln>
        </p:spPr>
      </p:sp>
      <p:sp>
        <p:nvSpPr>
          <p:cNvPr id="9" name="Shape 7"/>
          <p:cNvSpPr/>
          <p:nvPr/>
        </p:nvSpPr>
        <p:spPr>
          <a:xfrm>
            <a:off x="5166360" y="2039112"/>
            <a:ext cx="420624" cy="420624"/>
          </a:xfrm>
          <a:prstGeom prst="ellipse">
            <a:avLst/>
          </a:prstGeom>
          <a:solidFill>
            <a:srgbClr val="E8F0EA"/>
          </a:solidFill>
          <a:ln w="15875">
            <a:solidFill>
              <a:srgbClr val="4E7C63"/>
            </a:solidFill>
            <a:prstDash val="solid"/>
          </a:ln>
        </p:spPr>
      </p:sp>
      <p:sp>
        <p:nvSpPr>
          <p:cNvPr id="10" name="Text 8"/>
          <p:cNvSpPr/>
          <p:nvPr/>
        </p:nvSpPr>
        <p:spPr>
          <a:xfrm>
            <a:off x="5166360" y="2039112"/>
            <a:ext cx="420624" cy="420624"/>
          </a:xfrm>
          <a:prstGeom prst="rect">
            <a:avLst/>
          </a:prstGeom>
          <a:noFill/>
          <a:ln/>
        </p:spPr>
        <p:txBody>
          <a:bodyPr wrap="square" lIns="0" tIns="0" rIns="0" bIns="0" rtlCol="0" anchor="ctr"/>
          <a:lstStyle/>
          <a:p>
            <a:pPr marL="0" indent="0" algn="ctr">
              <a:buNone/>
            </a:pPr>
            <a:r>
              <a:rPr lang="en-US" sz="1500" b="1" dirty="0">
                <a:solidFill>
                  <a:srgbClr val="4E7C63"/>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5760720" y="1911096"/>
            <a:ext cx="5577840" cy="292608"/>
          </a:xfrm>
          <a:prstGeom prst="rect">
            <a:avLst/>
          </a:prstGeom>
          <a:noFill/>
          <a:ln/>
        </p:spPr>
        <p:txBody>
          <a:bodyPr wrap="square" lIns="0" tIns="0" rIns="0" bIns="0" rtlCol="0" anchor="ctr"/>
          <a:lstStyle/>
          <a:p>
            <a:pPr marL="0" indent="0">
              <a:buNone/>
            </a:pPr>
            <a:r>
              <a:rPr lang="en-US" sz="1550" b="1" dirty="0">
                <a:solidFill>
                  <a:srgbClr val="1B2B26"/>
                </a:solidFill>
                <a:latin typeface="Calibri" pitchFamily="34" charset="0"/>
                <a:ea typeface="Calibri" pitchFamily="34" charset="-122"/>
                <a:cs typeface="Calibri" pitchFamily="34" charset="-120"/>
              </a:rPr>
              <a:t>New medications</a:t>
            </a:r>
            <a:endParaRPr lang="en-US" sz="1550" dirty="0"/>
          </a:p>
        </p:txBody>
      </p:sp>
      <p:sp>
        <p:nvSpPr>
          <p:cNvPr id="12" name="Text 10"/>
          <p:cNvSpPr/>
          <p:nvPr/>
        </p:nvSpPr>
        <p:spPr>
          <a:xfrm>
            <a:off x="5760720" y="2221992"/>
            <a:ext cx="5577840" cy="384048"/>
          </a:xfrm>
          <a:prstGeom prst="rect">
            <a:avLst/>
          </a:prstGeom>
          <a:noFill/>
          <a:ln/>
        </p:spPr>
        <p:txBody>
          <a:bodyPr wrap="square" lIns="0" tIns="0" rIns="0" bIns="0" rtlCol="0" anchor="ctr"/>
          <a:lstStyle/>
          <a:p>
            <a:pPr marL="0" indent="0">
              <a:buNone/>
            </a:pPr>
            <a:r>
              <a:rPr lang="en-US" sz="1250" dirty="0">
                <a:solidFill>
                  <a:srgbClr val="6E7B74"/>
                </a:solidFill>
                <a:latin typeface="Calibri" pitchFamily="34" charset="0"/>
                <a:ea typeface="Calibri" pitchFamily="34" charset="-122"/>
                <a:cs typeface="Calibri" pitchFamily="34" charset="-120"/>
              </a:rPr>
              <a:t>Names, doses, and timing that did not exist last week.</a:t>
            </a:r>
            <a:endParaRPr lang="en-US" sz="1250" dirty="0"/>
          </a:p>
        </p:txBody>
      </p:sp>
      <p:sp>
        <p:nvSpPr>
          <p:cNvPr id="13" name="Shape 11"/>
          <p:cNvSpPr/>
          <p:nvPr/>
        </p:nvSpPr>
        <p:spPr>
          <a:xfrm>
            <a:off x="4937760" y="2834640"/>
            <a:ext cx="6583680" cy="932688"/>
          </a:xfrm>
          <a:prstGeom prst="roundRect">
            <a:avLst>
              <a:gd name="adj" fmla="val 11765"/>
            </a:avLst>
          </a:prstGeom>
          <a:solidFill>
            <a:srgbClr val="F7F9F8"/>
          </a:solidFill>
          <a:ln w="12700">
            <a:solidFill>
              <a:srgbClr val="D8E0DB"/>
            </a:solidFill>
            <a:prstDash val="solid"/>
          </a:ln>
        </p:spPr>
      </p:sp>
      <p:sp>
        <p:nvSpPr>
          <p:cNvPr id="14" name="Shape 12"/>
          <p:cNvSpPr/>
          <p:nvPr/>
        </p:nvSpPr>
        <p:spPr>
          <a:xfrm>
            <a:off x="5166360" y="3090672"/>
            <a:ext cx="420624" cy="420624"/>
          </a:xfrm>
          <a:prstGeom prst="ellipse">
            <a:avLst/>
          </a:prstGeom>
          <a:solidFill>
            <a:srgbClr val="E8F0EA"/>
          </a:solidFill>
          <a:ln w="15875">
            <a:solidFill>
              <a:srgbClr val="4E7C63"/>
            </a:solidFill>
            <a:prstDash val="solid"/>
          </a:ln>
        </p:spPr>
      </p:sp>
      <p:sp>
        <p:nvSpPr>
          <p:cNvPr id="15" name="Text 13"/>
          <p:cNvSpPr/>
          <p:nvPr/>
        </p:nvSpPr>
        <p:spPr>
          <a:xfrm>
            <a:off x="5166360" y="3090672"/>
            <a:ext cx="420624" cy="420624"/>
          </a:xfrm>
          <a:prstGeom prst="rect">
            <a:avLst/>
          </a:prstGeom>
          <a:noFill/>
          <a:ln/>
        </p:spPr>
        <p:txBody>
          <a:bodyPr wrap="square" lIns="0" tIns="0" rIns="0" bIns="0" rtlCol="0" anchor="ctr"/>
          <a:lstStyle/>
          <a:p>
            <a:pPr marL="0" indent="0" algn="ctr">
              <a:buNone/>
            </a:pPr>
            <a:r>
              <a:rPr lang="en-US" sz="1500" b="1" dirty="0">
                <a:solidFill>
                  <a:srgbClr val="4E7C63"/>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5760720" y="2962656"/>
            <a:ext cx="5577840" cy="292608"/>
          </a:xfrm>
          <a:prstGeom prst="rect">
            <a:avLst/>
          </a:prstGeom>
          <a:noFill/>
          <a:ln/>
        </p:spPr>
        <p:txBody>
          <a:bodyPr wrap="square" lIns="0" tIns="0" rIns="0" bIns="0" rtlCol="0" anchor="ctr"/>
          <a:lstStyle/>
          <a:p>
            <a:pPr marL="0" indent="0">
              <a:buNone/>
            </a:pPr>
            <a:r>
              <a:rPr lang="en-US" sz="1550" b="1" dirty="0">
                <a:solidFill>
                  <a:srgbClr val="1B2B26"/>
                </a:solidFill>
                <a:latin typeface="Calibri" pitchFamily="34" charset="0"/>
                <a:ea typeface="Calibri" pitchFamily="34" charset="-122"/>
                <a:cs typeface="Calibri" pitchFamily="34" charset="-120"/>
              </a:rPr>
              <a:t>Changed and stopped drugs</a:t>
            </a:r>
            <a:endParaRPr lang="en-US" sz="1550" dirty="0"/>
          </a:p>
        </p:txBody>
      </p:sp>
      <p:sp>
        <p:nvSpPr>
          <p:cNvPr id="17" name="Text 15"/>
          <p:cNvSpPr/>
          <p:nvPr/>
        </p:nvSpPr>
        <p:spPr>
          <a:xfrm>
            <a:off x="5760720" y="3273552"/>
            <a:ext cx="5577840" cy="384048"/>
          </a:xfrm>
          <a:prstGeom prst="rect">
            <a:avLst/>
          </a:prstGeom>
          <a:noFill/>
          <a:ln/>
        </p:spPr>
        <p:txBody>
          <a:bodyPr wrap="square" lIns="0" tIns="0" rIns="0" bIns="0" rtlCol="0" anchor="ctr"/>
          <a:lstStyle/>
          <a:p>
            <a:pPr marL="0" indent="0">
              <a:buNone/>
            </a:pPr>
            <a:r>
              <a:rPr lang="en-US" sz="1250" dirty="0">
                <a:solidFill>
                  <a:srgbClr val="6E7B74"/>
                </a:solidFill>
                <a:latin typeface="Calibri" pitchFamily="34" charset="0"/>
                <a:ea typeface="Calibri" pitchFamily="34" charset="-122"/>
                <a:cs typeface="Calibri" pitchFamily="34" charset="-120"/>
              </a:rPr>
              <a:t>The most dangerous line in the packet is the one that says stop.</a:t>
            </a:r>
            <a:endParaRPr lang="en-US" sz="1250" dirty="0"/>
          </a:p>
        </p:txBody>
      </p:sp>
      <p:sp>
        <p:nvSpPr>
          <p:cNvPr id="18" name="Shape 16"/>
          <p:cNvSpPr/>
          <p:nvPr/>
        </p:nvSpPr>
        <p:spPr>
          <a:xfrm>
            <a:off x="4937760" y="3886200"/>
            <a:ext cx="6583680" cy="932688"/>
          </a:xfrm>
          <a:prstGeom prst="roundRect">
            <a:avLst>
              <a:gd name="adj" fmla="val 11765"/>
            </a:avLst>
          </a:prstGeom>
          <a:solidFill>
            <a:srgbClr val="F7F9F8"/>
          </a:solidFill>
          <a:ln w="12700">
            <a:solidFill>
              <a:srgbClr val="D8E0DB"/>
            </a:solidFill>
            <a:prstDash val="solid"/>
          </a:ln>
        </p:spPr>
      </p:sp>
      <p:sp>
        <p:nvSpPr>
          <p:cNvPr id="19" name="Shape 17"/>
          <p:cNvSpPr/>
          <p:nvPr/>
        </p:nvSpPr>
        <p:spPr>
          <a:xfrm>
            <a:off x="5166360" y="4142232"/>
            <a:ext cx="420624" cy="420624"/>
          </a:xfrm>
          <a:prstGeom prst="ellipse">
            <a:avLst/>
          </a:prstGeom>
          <a:solidFill>
            <a:srgbClr val="E8F0EA"/>
          </a:solidFill>
          <a:ln w="15875">
            <a:solidFill>
              <a:srgbClr val="4E7C63"/>
            </a:solidFill>
            <a:prstDash val="solid"/>
          </a:ln>
        </p:spPr>
      </p:sp>
      <p:sp>
        <p:nvSpPr>
          <p:cNvPr id="20" name="Text 18"/>
          <p:cNvSpPr/>
          <p:nvPr/>
        </p:nvSpPr>
        <p:spPr>
          <a:xfrm>
            <a:off x="5166360" y="4142232"/>
            <a:ext cx="420624" cy="420624"/>
          </a:xfrm>
          <a:prstGeom prst="rect">
            <a:avLst/>
          </a:prstGeom>
          <a:noFill/>
          <a:ln/>
        </p:spPr>
        <p:txBody>
          <a:bodyPr wrap="square" lIns="0" tIns="0" rIns="0" bIns="0" rtlCol="0" anchor="ctr"/>
          <a:lstStyle/>
          <a:p>
            <a:pPr marL="0" indent="0" algn="ctr">
              <a:buNone/>
            </a:pPr>
            <a:r>
              <a:rPr lang="en-US" sz="1500" b="1" dirty="0">
                <a:solidFill>
                  <a:srgbClr val="4E7C63"/>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5760720" y="4014216"/>
            <a:ext cx="5577840" cy="292608"/>
          </a:xfrm>
          <a:prstGeom prst="rect">
            <a:avLst/>
          </a:prstGeom>
          <a:noFill/>
          <a:ln/>
        </p:spPr>
        <p:txBody>
          <a:bodyPr wrap="square" lIns="0" tIns="0" rIns="0" bIns="0" rtlCol="0" anchor="ctr"/>
          <a:lstStyle/>
          <a:p>
            <a:pPr marL="0" indent="0">
              <a:buNone/>
            </a:pPr>
            <a:r>
              <a:rPr lang="en-US" sz="1550" b="1" dirty="0">
                <a:solidFill>
                  <a:srgbClr val="1B2B26"/>
                </a:solidFill>
                <a:latin typeface="Calibri" pitchFamily="34" charset="0"/>
                <a:ea typeface="Calibri" pitchFamily="34" charset="-122"/>
                <a:cs typeface="Calibri" pitchFamily="34" charset="-120"/>
              </a:rPr>
              <a:t>Follow-up appointments</a:t>
            </a:r>
            <a:endParaRPr lang="en-US" sz="1550" dirty="0"/>
          </a:p>
        </p:txBody>
      </p:sp>
      <p:sp>
        <p:nvSpPr>
          <p:cNvPr id="22" name="Text 20"/>
          <p:cNvSpPr/>
          <p:nvPr/>
        </p:nvSpPr>
        <p:spPr>
          <a:xfrm>
            <a:off x="5760720" y="4325112"/>
            <a:ext cx="5577840" cy="384048"/>
          </a:xfrm>
          <a:prstGeom prst="rect">
            <a:avLst/>
          </a:prstGeom>
          <a:noFill/>
          <a:ln/>
        </p:spPr>
        <p:txBody>
          <a:bodyPr wrap="square" lIns="0" tIns="0" rIns="0" bIns="0" rtlCol="0" anchor="ctr"/>
          <a:lstStyle/>
          <a:p>
            <a:pPr marL="0" indent="0">
              <a:buNone/>
            </a:pPr>
            <a:r>
              <a:rPr lang="en-US" sz="1250" dirty="0">
                <a:solidFill>
                  <a:srgbClr val="6E7B74"/>
                </a:solidFill>
                <a:latin typeface="Calibri" pitchFamily="34" charset="0"/>
                <a:ea typeface="Calibri" pitchFamily="34" charset="-122"/>
                <a:cs typeface="Calibri" pitchFamily="34" charset="-120"/>
              </a:rPr>
              <a:t>Scattered across pages, often without dates attached.</a:t>
            </a:r>
            <a:endParaRPr lang="en-US" sz="1250" dirty="0"/>
          </a:p>
        </p:txBody>
      </p:sp>
      <p:sp>
        <p:nvSpPr>
          <p:cNvPr id="23" name="Shape 21"/>
          <p:cNvSpPr/>
          <p:nvPr/>
        </p:nvSpPr>
        <p:spPr>
          <a:xfrm>
            <a:off x="4937760" y="4937760"/>
            <a:ext cx="6583680" cy="932688"/>
          </a:xfrm>
          <a:prstGeom prst="roundRect">
            <a:avLst>
              <a:gd name="adj" fmla="val 11765"/>
            </a:avLst>
          </a:prstGeom>
          <a:solidFill>
            <a:srgbClr val="F7F9F8"/>
          </a:solidFill>
          <a:ln w="12700">
            <a:solidFill>
              <a:srgbClr val="D8E0DB"/>
            </a:solidFill>
            <a:prstDash val="solid"/>
          </a:ln>
        </p:spPr>
      </p:sp>
      <p:sp>
        <p:nvSpPr>
          <p:cNvPr id="24" name="Shape 22"/>
          <p:cNvSpPr/>
          <p:nvPr/>
        </p:nvSpPr>
        <p:spPr>
          <a:xfrm>
            <a:off x="5166360" y="5193792"/>
            <a:ext cx="420624" cy="420624"/>
          </a:xfrm>
          <a:prstGeom prst="ellipse">
            <a:avLst/>
          </a:prstGeom>
          <a:solidFill>
            <a:srgbClr val="E8F0EA"/>
          </a:solidFill>
          <a:ln w="15875">
            <a:solidFill>
              <a:srgbClr val="4E7C63"/>
            </a:solidFill>
            <a:prstDash val="solid"/>
          </a:ln>
        </p:spPr>
      </p:sp>
      <p:sp>
        <p:nvSpPr>
          <p:cNvPr id="25" name="Text 23"/>
          <p:cNvSpPr/>
          <p:nvPr/>
        </p:nvSpPr>
        <p:spPr>
          <a:xfrm>
            <a:off x="5166360" y="5193792"/>
            <a:ext cx="420624" cy="420624"/>
          </a:xfrm>
          <a:prstGeom prst="rect">
            <a:avLst/>
          </a:prstGeom>
          <a:noFill/>
          <a:ln/>
        </p:spPr>
        <p:txBody>
          <a:bodyPr wrap="square" lIns="0" tIns="0" rIns="0" bIns="0" rtlCol="0" anchor="ctr"/>
          <a:lstStyle/>
          <a:p>
            <a:pPr marL="0" indent="0" algn="ctr">
              <a:buNone/>
            </a:pPr>
            <a:r>
              <a:rPr lang="en-US" sz="1500" b="1" dirty="0">
                <a:solidFill>
                  <a:srgbClr val="4E7C63"/>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5760720" y="5065776"/>
            <a:ext cx="5577840" cy="292608"/>
          </a:xfrm>
          <a:prstGeom prst="rect">
            <a:avLst/>
          </a:prstGeom>
          <a:noFill/>
          <a:ln/>
        </p:spPr>
        <p:txBody>
          <a:bodyPr wrap="square" lIns="0" tIns="0" rIns="0" bIns="0" rtlCol="0" anchor="ctr"/>
          <a:lstStyle/>
          <a:p>
            <a:pPr marL="0" indent="0">
              <a:buNone/>
            </a:pPr>
            <a:r>
              <a:rPr lang="en-US" sz="1550" b="1" dirty="0">
                <a:solidFill>
                  <a:srgbClr val="1B2B26"/>
                </a:solidFill>
                <a:latin typeface="Calibri" pitchFamily="34" charset="0"/>
                <a:ea typeface="Calibri" pitchFamily="34" charset="-122"/>
                <a:cs typeface="Calibri" pitchFamily="34" charset="-120"/>
              </a:rPr>
              <a:t>Warning signs</a:t>
            </a:r>
            <a:endParaRPr lang="en-US" sz="1550" dirty="0"/>
          </a:p>
        </p:txBody>
      </p:sp>
      <p:sp>
        <p:nvSpPr>
          <p:cNvPr id="27" name="Text 25"/>
          <p:cNvSpPr/>
          <p:nvPr/>
        </p:nvSpPr>
        <p:spPr>
          <a:xfrm>
            <a:off x="5760720" y="5376672"/>
            <a:ext cx="5577840" cy="384048"/>
          </a:xfrm>
          <a:prstGeom prst="rect">
            <a:avLst/>
          </a:prstGeom>
          <a:noFill/>
          <a:ln/>
        </p:spPr>
        <p:txBody>
          <a:bodyPr wrap="square" lIns="0" tIns="0" rIns="0" bIns="0" rtlCol="0" anchor="ctr"/>
          <a:lstStyle/>
          <a:p>
            <a:pPr marL="0" indent="0">
              <a:buNone/>
            </a:pPr>
            <a:r>
              <a:rPr lang="en-US" sz="1250" dirty="0">
                <a:solidFill>
                  <a:srgbClr val="6E7B74"/>
                </a:solidFill>
                <a:latin typeface="Calibri" pitchFamily="34" charset="0"/>
                <a:ea typeface="Calibri" pitchFamily="34" charset="-122"/>
                <a:cs typeface="Calibri" pitchFamily="34" charset="-120"/>
              </a:rPr>
              <a:t>The symptoms that mean call now - buried in prose.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4E7C63"/>
                </a:solidFill>
                <a:latin typeface="Calibri" pitchFamily="34" charset="0"/>
                <a:ea typeface="Calibri" pitchFamily="34" charset="-122"/>
                <a:cs typeface="Calibri" pitchFamily="34" charset="-120"/>
              </a:rPr>
              <a:t>POSITIONING</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A chatbot solves the wrong half of this</a:t>
            </a:r>
            <a:endParaRPr lang="en-US" sz="3800" dirty="0"/>
          </a:p>
        </p:txBody>
      </p:sp>
      <p:sp>
        <p:nvSpPr>
          <p:cNvPr id="4" name="Shape 2"/>
          <p:cNvSpPr/>
          <p:nvPr/>
        </p:nvSpPr>
        <p:spPr>
          <a:xfrm>
            <a:off x="640080" y="1828800"/>
            <a:ext cx="5349240" cy="3931920"/>
          </a:xfrm>
          <a:prstGeom prst="roundRect">
            <a:avLst>
              <a:gd name="adj" fmla="val 3256"/>
            </a:avLst>
          </a:prstGeom>
          <a:solidFill>
            <a:srgbClr val="FAFAF9"/>
          </a:solidFill>
          <a:ln w="12700">
            <a:solidFill>
              <a:srgbClr val="D8E0DB"/>
            </a:solidFill>
            <a:prstDash val="solid"/>
          </a:ln>
        </p:spPr>
      </p:sp>
      <p:sp>
        <p:nvSpPr>
          <p:cNvPr id="5" name="Text 3"/>
          <p:cNvSpPr/>
          <p:nvPr/>
        </p:nvSpPr>
        <p:spPr>
          <a:xfrm>
            <a:off x="1005840" y="2103120"/>
            <a:ext cx="4617720" cy="365760"/>
          </a:xfrm>
          <a:prstGeom prst="rect">
            <a:avLst/>
          </a:prstGeom>
          <a:noFill/>
          <a:ln/>
        </p:spPr>
        <p:txBody>
          <a:bodyPr wrap="square" lIns="0" tIns="0" rIns="0" bIns="0" rtlCol="0" anchor="ctr"/>
          <a:lstStyle/>
          <a:p>
            <a:pPr marL="0" indent="0">
              <a:buNone/>
            </a:pPr>
            <a:r>
              <a:rPr lang="en-US" sz="2000" b="1" dirty="0">
                <a:solidFill>
                  <a:srgbClr val="6E7B74"/>
                </a:solidFill>
                <a:latin typeface="Cambria" pitchFamily="34" charset="0"/>
                <a:ea typeface="Cambria" pitchFamily="34" charset="-122"/>
                <a:cs typeface="Cambria" pitchFamily="34" charset="-120"/>
              </a:rPr>
              <a:t>A general caregiver chatbot</a:t>
            </a:r>
            <a:endParaRPr lang="en-US" sz="2000" dirty="0"/>
          </a:p>
        </p:txBody>
      </p:sp>
      <p:sp>
        <p:nvSpPr>
          <p:cNvPr id="6" name="Text 4"/>
          <p:cNvSpPr/>
          <p:nvPr/>
        </p:nvSpPr>
        <p:spPr>
          <a:xfrm>
            <a:off x="1005840" y="2697480"/>
            <a:ext cx="4617720" cy="219456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Answers questions faster</a:t>
            </a:r>
            <a:endParaRPr lang="en-US" sz="1450" dirty="0"/>
          </a:p>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Generates fluent, confident text</a:t>
            </a:r>
            <a:endParaRPr lang="en-US" sz="1450" dirty="0"/>
          </a:p>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Explains what a term means</a:t>
            </a:r>
            <a:endParaRPr lang="en-US" sz="1450" dirty="0"/>
          </a:p>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Improves efficiency</a:t>
            </a:r>
            <a:endParaRPr lang="en-US" sz="1450" dirty="0"/>
          </a:p>
          <a:p>
            <a:pPr marL="342900" indent="-342900">
              <a:spcAft>
                <a:spcPts val="1000"/>
              </a:spcAft>
              <a:buSzPct val="100000"/>
              <a:buChar char="•"/>
            </a:pPr>
            <a:r>
              <a:rPr lang="en-US" sz="1450" dirty="0">
                <a:solidFill>
                  <a:srgbClr val="9B3B32"/>
                </a:solidFill>
                <a:latin typeface="Calibri" pitchFamily="34" charset="0"/>
                <a:ea typeface="Calibri" pitchFamily="34" charset="-122"/>
                <a:cs typeface="Calibri" pitchFamily="34" charset="-120"/>
              </a:rPr>
              <a:t>Cannot tell you whether it made the answer up</a:t>
            </a:r>
            <a:endParaRPr lang="en-US" sz="1450" dirty="0"/>
          </a:p>
        </p:txBody>
      </p:sp>
      <p:sp>
        <p:nvSpPr>
          <p:cNvPr id="7" name="Text 5"/>
          <p:cNvSpPr/>
          <p:nvPr/>
        </p:nvSpPr>
        <p:spPr>
          <a:xfrm>
            <a:off x="1005840" y="5074920"/>
            <a:ext cx="4617720" cy="548640"/>
          </a:xfrm>
          <a:prstGeom prst="rect">
            <a:avLst/>
          </a:prstGeom>
          <a:noFill/>
          <a:ln/>
        </p:spPr>
        <p:txBody>
          <a:bodyPr wrap="square" lIns="0" tIns="0" rIns="0" bIns="0" rtlCol="0" anchor="ctr"/>
          <a:lstStyle/>
          <a:p>
            <a:pPr marL="0" indent="0">
              <a:buNone/>
            </a:pPr>
            <a:r>
              <a:rPr lang="en-US" sz="1250" i="1" dirty="0">
                <a:solidFill>
                  <a:srgbClr val="6E7B74"/>
                </a:solidFill>
                <a:latin typeface="Calibri" pitchFamily="34" charset="0"/>
                <a:ea typeface="Calibri" pitchFamily="34" charset="-122"/>
                <a:cs typeface="Calibri" pitchFamily="34" charset="-120"/>
              </a:rPr>
              <a:t>It is also ACL's own listed use case so it is where most submissions will land.</a:t>
            </a:r>
            <a:endParaRPr lang="en-US" sz="1250" dirty="0"/>
          </a:p>
        </p:txBody>
      </p:sp>
      <p:sp>
        <p:nvSpPr>
          <p:cNvPr id="8" name="Shape 6"/>
          <p:cNvSpPr/>
          <p:nvPr/>
        </p:nvSpPr>
        <p:spPr>
          <a:xfrm>
            <a:off x="6263640" y="1828800"/>
            <a:ext cx="5257800" cy="3931920"/>
          </a:xfrm>
          <a:prstGeom prst="roundRect">
            <a:avLst>
              <a:gd name="adj" fmla="val 3256"/>
            </a:avLst>
          </a:prstGeom>
          <a:solidFill>
            <a:srgbClr val="E8F0EA"/>
          </a:solidFill>
          <a:ln w="19050">
            <a:solidFill>
              <a:srgbClr val="4E7C63"/>
            </a:solidFill>
            <a:prstDash val="solid"/>
          </a:ln>
        </p:spPr>
      </p:sp>
      <p:sp>
        <p:nvSpPr>
          <p:cNvPr id="9" name="Text 7"/>
          <p:cNvSpPr/>
          <p:nvPr/>
        </p:nvSpPr>
        <p:spPr>
          <a:xfrm>
            <a:off x="6629400" y="2103120"/>
            <a:ext cx="4526280" cy="365760"/>
          </a:xfrm>
          <a:prstGeom prst="rect">
            <a:avLst/>
          </a:prstGeom>
          <a:noFill/>
          <a:ln/>
        </p:spPr>
        <p:txBody>
          <a:bodyPr wrap="square" lIns="0" tIns="0" rIns="0" bIns="0" rtlCol="0" anchor="ctr"/>
          <a:lstStyle/>
          <a:p>
            <a:pPr marL="0" indent="0">
              <a:buNone/>
            </a:pPr>
            <a:r>
              <a:rPr lang="en-US" sz="2000" b="1" dirty="0">
                <a:solidFill>
                  <a:srgbClr val="4E7C63"/>
                </a:solidFill>
                <a:latin typeface="Cambria" pitchFamily="34" charset="0"/>
                <a:ea typeface="Cambria" pitchFamily="34" charset="-122"/>
                <a:cs typeface="Cambria" pitchFamily="34" charset="-120"/>
              </a:rPr>
              <a:t>Homecoming</a:t>
            </a:r>
            <a:endParaRPr lang="en-US" sz="2000" dirty="0"/>
          </a:p>
        </p:txBody>
      </p:sp>
      <p:sp>
        <p:nvSpPr>
          <p:cNvPr id="10" name="Text 8"/>
          <p:cNvSpPr/>
          <p:nvPr/>
        </p:nvSpPr>
        <p:spPr>
          <a:xfrm>
            <a:off x="6629400" y="2697480"/>
            <a:ext cx="4526280" cy="219456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Takes one transition moment</a:t>
            </a:r>
            <a:endParaRPr lang="en-US" sz="1450" dirty="0"/>
          </a:p>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Treats it as a human-factors safety problem</a:t>
            </a:r>
            <a:endParaRPr lang="en-US" sz="1450" dirty="0"/>
          </a:p>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Every item traced to a page and a quote</a:t>
            </a:r>
            <a:endParaRPr lang="en-US" sz="1450" dirty="0"/>
          </a:p>
          <a:p>
            <a:pPr marL="342900" indent="-342900">
              <a:spcAft>
                <a:spcPts val="1000"/>
              </a:spcAft>
              <a:buSzPct val="100000"/>
              <a:buChar char="•"/>
            </a:pPr>
            <a:r>
              <a:rPr lang="en-US" sz="1450" dirty="0">
                <a:solidFill>
                  <a:srgbClr val="3F4A44"/>
                </a:solidFill>
                <a:latin typeface="Calibri" pitchFamily="34" charset="0"/>
                <a:ea typeface="Calibri" pitchFamily="34" charset="-122"/>
                <a:cs typeface="Calibri" pitchFamily="34" charset="-120"/>
              </a:rPr>
              <a:t>Prevents error, not just effort</a:t>
            </a:r>
            <a:endParaRPr lang="en-US" sz="1450" dirty="0"/>
          </a:p>
          <a:p>
            <a:pPr marL="342900" indent="-342900">
              <a:spcAft>
                <a:spcPts val="1000"/>
              </a:spcAft>
              <a:buSzPct val="100000"/>
              <a:buChar char="•"/>
            </a:pPr>
            <a:r>
              <a:rPr lang="en-US" sz="1450" b="1" dirty="0">
                <a:solidFill>
                  <a:srgbClr val="4E7C63"/>
                </a:solidFill>
                <a:latin typeface="Calibri" pitchFamily="34" charset="0"/>
                <a:ea typeface="Calibri" pitchFamily="34" charset="-122"/>
                <a:cs typeface="Calibri" pitchFamily="34" charset="-120"/>
              </a:rPr>
              <a:t>Refuses to assert what it cannot ground</a:t>
            </a:r>
            <a:endParaRPr lang="en-US" sz="1450" dirty="0"/>
          </a:p>
        </p:txBody>
      </p:sp>
      <p:sp>
        <p:nvSpPr>
          <p:cNvPr id="11" name="Text 9"/>
          <p:cNvSpPr/>
          <p:nvPr/>
        </p:nvSpPr>
        <p:spPr>
          <a:xfrm>
            <a:off x="6629400" y="5074920"/>
            <a:ext cx="4526280" cy="548640"/>
          </a:xfrm>
          <a:prstGeom prst="rect">
            <a:avLst/>
          </a:prstGeom>
          <a:noFill/>
          <a:ln/>
        </p:spPr>
        <p:txBody>
          <a:bodyPr wrap="square" lIns="0" tIns="0" rIns="0" bIns="0" rtlCol="0" anchor="ctr"/>
          <a:lstStyle/>
          <a:p>
            <a:pPr marL="0" indent="0">
              <a:buNone/>
            </a:pPr>
            <a:r>
              <a:rPr lang="en-US" sz="1250" i="1" dirty="0">
                <a:solidFill>
                  <a:srgbClr val="4E7C63"/>
                </a:solidFill>
                <a:latin typeface="Calibri" pitchFamily="34" charset="0"/>
                <a:ea typeface="Calibri" pitchFamily="34" charset="-122"/>
                <a:cs typeface="Calibri" pitchFamily="34" charset="-120"/>
              </a:rPr>
              <a:t>Narrow scope, verifiable output.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4E7C63"/>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Packet in, verified plan out</a:t>
            </a:r>
            <a:endParaRPr lang="en-US" sz="3800" dirty="0"/>
          </a:p>
        </p:txBody>
      </p:sp>
      <p:sp>
        <p:nvSpPr>
          <p:cNvPr id="4" name="Shape 2"/>
          <p:cNvSpPr/>
          <p:nvPr/>
        </p:nvSpPr>
        <p:spPr>
          <a:xfrm>
            <a:off x="640080" y="2057400"/>
            <a:ext cx="1975104" cy="2148840"/>
          </a:xfrm>
          <a:prstGeom prst="roundRect">
            <a:avLst>
              <a:gd name="adj" fmla="val 5556"/>
            </a:avLst>
          </a:prstGeom>
          <a:solidFill>
            <a:srgbClr val="E8F0EA"/>
          </a:solidFill>
          <a:ln w="15875">
            <a:solidFill>
              <a:srgbClr val="4E7C63"/>
            </a:solidFill>
            <a:prstDash val="solid"/>
          </a:ln>
        </p:spPr>
      </p:sp>
      <p:sp>
        <p:nvSpPr>
          <p:cNvPr id="5" name="Text 3"/>
          <p:cNvSpPr/>
          <p:nvPr/>
        </p:nvSpPr>
        <p:spPr>
          <a:xfrm>
            <a:off x="640080" y="2240280"/>
            <a:ext cx="1975104" cy="320040"/>
          </a:xfrm>
          <a:prstGeom prst="rect">
            <a:avLst/>
          </a:prstGeom>
          <a:noFill/>
          <a:ln/>
        </p:spPr>
        <p:txBody>
          <a:bodyPr wrap="square" lIns="0" tIns="0" rIns="0" bIns="0" rtlCol="0" anchor="ctr"/>
          <a:lstStyle/>
          <a:p>
            <a:pPr marL="0" indent="0" algn="ctr">
              <a:buNone/>
            </a:pPr>
            <a:r>
              <a:rPr lang="en-US" sz="1150" b="1" kern="0" spc="100" dirty="0">
                <a:solidFill>
                  <a:srgbClr val="4E7C63"/>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640080" y="2606040"/>
            <a:ext cx="1975104" cy="365760"/>
          </a:xfrm>
          <a:prstGeom prst="rect">
            <a:avLst/>
          </a:prstGeom>
          <a:noFill/>
          <a:ln/>
        </p:spPr>
        <p:txBody>
          <a:bodyPr wrap="square" lIns="0" tIns="0" rIns="0" bIns="0" rtlCol="0" anchor="ctr"/>
          <a:lstStyle/>
          <a:p>
            <a:pPr marL="0" indent="0" algn="ctr">
              <a:buNone/>
            </a:pPr>
            <a:r>
              <a:rPr lang="en-US" sz="1900" b="1" dirty="0">
                <a:solidFill>
                  <a:srgbClr val="1B2B26"/>
                </a:solidFill>
                <a:latin typeface="Cambria" pitchFamily="34" charset="0"/>
                <a:ea typeface="Cambria" pitchFamily="34" charset="-122"/>
                <a:cs typeface="Cambria" pitchFamily="34" charset="-120"/>
              </a:rPr>
              <a:t>Upload</a:t>
            </a:r>
            <a:endParaRPr lang="en-US" sz="1900" dirty="0"/>
          </a:p>
        </p:txBody>
      </p:sp>
      <p:sp>
        <p:nvSpPr>
          <p:cNvPr id="7" name="Text 5"/>
          <p:cNvSpPr/>
          <p:nvPr/>
        </p:nvSpPr>
        <p:spPr>
          <a:xfrm>
            <a:off x="777240" y="3063240"/>
            <a:ext cx="1700784" cy="914400"/>
          </a:xfrm>
          <a:prstGeom prst="rect">
            <a:avLst/>
          </a:prstGeom>
          <a:noFill/>
          <a:ln/>
        </p:spPr>
        <p:txBody>
          <a:bodyPr wrap="square" lIns="0" tIns="0" rIns="0" bIns="0" rtlCol="0" anchor="ctr"/>
          <a:lstStyle/>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PDF, pasted text,</a:t>
            </a:r>
            <a:endParaRPr lang="en-US" sz="1250" dirty="0"/>
          </a:p>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or a photo</a:t>
            </a:r>
            <a:endParaRPr lang="en-US" sz="1250" dirty="0"/>
          </a:p>
        </p:txBody>
      </p:sp>
      <p:sp>
        <p:nvSpPr>
          <p:cNvPr id="8" name="Text 6"/>
          <p:cNvSpPr/>
          <p:nvPr/>
        </p:nvSpPr>
        <p:spPr>
          <a:xfrm>
            <a:off x="2615184" y="2880360"/>
            <a:ext cx="329184" cy="365760"/>
          </a:xfrm>
          <a:prstGeom prst="rect">
            <a:avLst/>
          </a:prstGeom>
          <a:noFill/>
          <a:ln/>
        </p:spPr>
        <p:txBody>
          <a:bodyPr wrap="square" lIns="0" tIns="0" rIns="0" bIns="0" rtlCol="0" anchor="ctr"/>
          <a:lstStyle/>
          <a:p>
            <a:pPr marL="0" indent="0" algn="ctr">
              <a:buNone/>
            </a:pPr>
            <a:r>
              <a:rPr lang="en-US" sz="1800" dirty="0">
                <a:solidFill>
                  <a:srgbClr val="6E7B74"/>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944368" y="2057400"/>
            <a:ext cx="1975104" cy="2148840"/>
          </a:xfrm>
          <a:prstGeom prst="roundRect">
            <a:avLst>
              <a:gd name="adj" fmla="val 5556"/>
            </a:avLst>
          </a:prstGeom>
          <a:solidFill>
            <a:srgbClr val="E8F0EA"/>
          </a:solidFill>
          <a:ln w="15875">
            <a:solidFill>
              <a:srgbClr val="4E7C63"/>
            </a:solidFill>
            <a:prstDash val="solid"/>
          </a:ln>
        </p:spPr>
      </p:sp>
      <p:sp>
        <p:nvSpPr>
          <p:cNvPr id="10" name="Text 8"/>
          <p:cNvSpPr/>
          <p:nvPr/>
        </p:nvSpPr>
        <p:spPr>
          <a:xfrm>
            <a:off x="2944368" y="2240280"/>
            <a:ext cx="1975104" cy="320040"/>
          </a:xfrm>
          <a:prstGeom prst="rect">
            <a:avLst/>
          </a:prstGeom>
          <a:noFill/>
          <a:ln/>
        </p:spPr>
        <p:txBody>
          <a:bodyPr wrap="square" lIns="0" tIns="0" rIns="0" bIns="0" rtlCol="0" anchor="ctr"/>
          <a:lstStyle/>
          <a:p>
            <a:pPr marL="0" indent="0" algn="ctr">
              <a:buNone/>
            </a:pPr>
            <a:r>
              <a:rPr lang="en-US" sz="1150" b="1" kern="0" spc="100" dirty="0">
                <a:solidFill>
                  <a:srgbClr val="4E7C63"/>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2944368" y="2606040"/>
            <a:ext cx="1975104" cy="365760"/>
          </a:xfrm>
          <a:prstGeom prst="rect">
            <a:avLst/>
          </a:prstGeom>
          <a:noFill/>
          <a:ln/>
        </p:spPr>
        <p:txBody>
          <a:bodyPr wrap="square" lIns="0" tIns="0" rIns="0" bIns="0" rtlCol="0" anchor="ctr"/>
          <a:lstStyle/>
          <a:p>
            <a:pPr marL="0" indent="0" algn="ctr">
              <a:buNone/>
            </a:pPr>
            <a:r>
              <a:rPr lang="en-US" sz="1900" b="1" dirty="0">
                <a:solidFill>
                  <a:srgbClr val="1B2B26"/>
                </a:solidFill>
                <a:latin typeface="Cambria" pitchFamily="34" charset="0"/>
                <a:ea typeface="Cambria" pitchFamily="34" charset="-122"/>
                <a:cs typeface="Cambria" pitchFamily="34" charset="-120"/>
              </a:rPr>
              <a:t>Extract</a:t>
            </a:r>
            <a:endParaRPr lang="en-US" sz="1900" dirty="0"/>
          </a:p>
        </p:txBody>
      </p:sp>
      <p:sp>
        <p:nvSpPr>
          <p:cNvPr id="12" name="Text 10"/>
          <p:cNvSpPr/>
          <p:nvPr/>
        </p:nvSpPr>
        <p:spPr>
          <a:xfrm>
            <a:off x="3081528" y="3063240"/>
            <a:ext cx="1700784" cy="914400"/>
          </a:xfrm>
          <a:prstGeom prst="rect">
            <a:avLst/>
          </a:prstGeom>
          <a:noFill/>
          <a:ln/>
        </p:spPr>
        <p:txBody>
          <a:bodyPr wrap="square" lIns="0" tIns="0" rIns="0" bIns="0" rtlCol="0" anchor="ctr"/>
          <a:lstStyle/>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Claude returns</a:t>
            </a:r>
            <a:endParaRPr lang="en-US" sz="1250" dirty="0"/>
          </a:p>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structured items</a:t>
            </a:r>
            <a:endParaRPr lang="en-US" sz="1250" dirty="0"/>
          </a:p>
        </p:txBody>
      </p:sp>
      <p:sp>
        <p:nvSpPr>
          <p:cNvPr id="13" name="Text 11"/>
          <p:cNvSpPr/>
          <p:nvPr/>
        </p:nvSpPr>
        <p:spPr>
          <a:xfrm>
            <a:off x="4919472" y="2880360"/>
            <a:ext cx="329184" cy="365760"/>
          </a:xfrm>
          <a:prstGeom prst="rect">
            <a:avLst/>
          </a:prstGeom>
          <a:noFill/>
          <a:ln/>
        </p:spPr>
        <p:txBody>
          <a:bodyPr wrap="square" lIns="0" tIns="0" rIns="0" bIns="0" rtlCol="0" anchor="ctr"/>
          <a:lstStyle/>
          <a:p>
            <a:pPr marL="0" indent="0" algn="ctr">
              <a:buNone/>
            </a:pPr>
            <a:r>
              <a:rPr lang="en-US" sz="1800" dirty="0">
                <a:solidFill>
                  <a:srgbClr val="6E7B74"/>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5248656" y="2057400"/>
            <a:ext cx="1975104" cy="2148840"/>
          </a:xfrm>
          <a:prstGeom prst="roundRect">
            <a:avLst>
              <a:gd name="adj" fmla="val 5556"/>
            </a:avLst>
          </a:prstGeom>
          <a:solidFill>
            <a:srgbClr val="FBF0E0"/>
          </a:solidFill>
          <a:ln w="15875">
            <a:solidFill>
              <a:srgbClr val="B4701F"/>
            </a:solidFill>
            <a:prstDash val="solid"/>
          </a:ln>
        </p:spPr>
      </p:sp>
      <p:sp>
        <p:nvSpPr>
          <p:cNvPr id="15" name="Text 13"/>
          <p:cNvSpPr/>
          <p:nvPr/>
        </p:nvSpPr>
        <p:spPr>
          <a:xfrm>
            <a:off x="5248656" y="2240280"/>
            <a:ext cx="1975104" cy="320040"/>
          </a:xfrm>
          <a:prstGeom prst="rect">
            <a:avLst/>
          </a:prstGeom>
          <a:noFill/>
          <a:ln/>
        </p:spPr>
        <p:txBody>
          <a:bodyPr wrap="square" lIns="0" tIns="0" rIns="0" bIns="0" rtlCol="0" anchor="ctr"/>
          <a:lstStyle/>
          <a:p>
            <a:pPr marL="0" indent="0" algn="ctr">
              <a:buNone/>
            </a:pPr>
            <a:r>
              <a:rPr lang="en-US" sz="1150" b="1" kern="0" spc="100" dirty="0">
                <a:solidFill>
                  <a:srgbClr val="B4701F"/>
                </a:solidFill>
                <a:latin typeface="Calibri" pitchFamily="34" charset="0"/>
                <a:ea typeface="Calibri" pitchFamily="34" charset="-122"/>
                <a:cs typeface="Calibri" pitchFamily="34" charset="-120"/>
              </a:rPr>
              <a:t>3</a:t>
            </a:r>
            <a:endParaRPr lang="en-US" sz="1150" dirty="0"/>
          </a:p>
        </p:txBody>
      </p:sp>
      <p:sp>
        <p:nvSpPr>
          <p:cNvPr id="16" name="Text 14"/>
          <p:cNvSpPr/>
          <p:nvPr/>
        </p:nvSpPr>
        <p:spPr>
          <a:xfrm>
            <a:off x="5248656" y="2606040"/>
            <a:ext cx="1975104" cy="365760"/>
          </a:xfrm>
          <a:prstGeom prst="rect">
            <a:avLst/>
          </a:prstGeom>
          <a:noFill/>
          <a:ln/>
        </p:spPr>
        <p:txBody>
          <a:bodyPr wrap="square" lIns="0" tIns="0" rIns="0" bIns="0" rtlCol="0" anchor="ctr"/>
          <a:lstStyle/>
          <a:p>
            <a:pPr marL="0" indent="0" algn="ctr">
              <a:buNone/>
            </a:pPr>
            <a:r>
              <a:rPr lang="en-US" sz="1900" b="1" dirty="0">
                <a:solidFill>
                  <a:srgbClr val="1B2B26"/>
                </a:solidFill>
                <a:latin typeface="Cambria" pitchFamily="34" charset="0"/>
                <a:ea typeface="Cambria" pitchFamily="34" charset="-122"/>
                <a:cs typeface="Cambria" pitchFamily="34" charset="-120"/>
              </a:rPr>
              <a:t>Ground</a:t>
            </a:r>
            <a:endParaRPr lang="en-US" sz="1900" dirty="0"/>
          </a:p>
        </p:txBody>
      </p:sp>
      <p:sp>
        <p:nvSpPr>
          <p:cNvPr id="17" name="Text 15"/>
          <p:cNvSpPr/>
          <p:nvPr/>
        </p:nvSpPr>
        <p:spPr>
          <a:xfrm>
            <a:off x="5385816" y="3063240"/>
            <a:ext cx="1700784" cy="914400"/>
          </a:xfrm>
          <a:prstGeom prst="rect">
            <a:avLst/>
          </a:prstGeom>
          <a:noFill/>
          <a:ln/>
        </p:spPr>
        <p:txBody>
          <a:bodyPr wrap="square" lIns="0" tIns="0" rIns="0" bIns="0" rtlCol="0" anchor="ctr"/>
          <a:lstStyle/>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Verbatim quote</a:t>
            </a:r>
            <a:endParaRPr lang="en-US" sz="1250" dirty="0"/>
          </a:p>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must be found</a:t>
            </a:r>
            <a:endParaRPr lang="en-US" sz="1250" dirty="0"/>
          </a:p>
        </p:txBody>
      </p:sp>
      <p:sp>
        <p:nvSpPr>
          <p:cNvPr id="18" name="Text 16"/>
          <p:cNvSpPr/>
          <p:nvPr/>
        </p:nvSpPr>
        <p:spPr>
          <a:xfrm>
            <a:off x="7223760" y="2880360"/>
            <a:ext cx="329184" cy="365760"/>
          </a:xfrm>
          <a:prstGeom prst="rect">
            <a:avLst/>
          </a:prstGeom>
          <a:noFill/>
          <a:ln/>
        </p:spPr>
        <p:txBody>
          <a:bodyPr wrap="square" lIns="0" tIns="0" rIns="0" bIns="0" rtlCol="0" anchor="ctr"/>
          <a:lstStyle/>
          <a:p>
            <a:pPr marL="0" indent="0" algn="ctr">
              <a:buNone/>
            </a:pPr>
            <a:r>
              <a:rPr lang="en-US" sz="1800" dirty="0">
                <a:solidFill>
                  <a:srgbClr val="6E7B74"/>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552944" y="2057400"/>
            <a:ext cx="1975104" cy="2148840"/>
          </a:xfrm>
          <a:prstGeom prst="roundRect">
            <a:avLst>
              <a:gd name="adj" fmla="val 5556"/>
            </a:avLst>
          </a:prstGeom>
          <a:solidFill>
            <a:srgbClr val="FBF0E0"/>
          </a:solidFill>
          <a:ln w="15875">
            <a:solidFill>
              <a:srgbClr val="B4701F"/>
            </a:solidFill>
            <a:prstDash val="solid"/>
          </a:ln>
        </p:spPr>
      </p:sp>
      <p:sp>
        <p:nvSpPr>
          <p:cNvPr id="20" name="Text 18"/>
          <p:cNvSpPr/>
          <p:nvPr/>
        </p:nvSpPr>
        <p:spPr>
          <a:xfrm>
            <a:off x="7552944" y="2240280"/>
            <a:ext cx="1975104" cy="320040"/>
          </a:xfrm>
          <a:prstGeom prst="rect">
            <a:avLst/>
          </a:prstGeom>
          <a:noFill/>
          <a:ln/>
        </p:spPr>
        <p:txBody>
          <a:bodyPr wrap="square" lIns="0" tIns="0" rIns="0" bIns="0" rtlCol="0" anchor="ctr"/>
          <a:lstStyle/>
          <a:p>
            <a:pPr marL="0" indent="0" algn="ctr">
              <a:buNone/>
            </a:pPr>
            <a:r>
              <a:rPr lang="en-US" sz="1150" b="1" kern="0" spc="100" dirty="0">
                <a:solidFill>
                  <a:srgbClr val="B4701F"/>
                </a:solidFill>
                <a:latin typeface="Calibri" pitchFamily="34" charset="0"/>
                <a:ea typeface="Calibri" pitchFamily="34" charset="-122"/>
                <a:cs typeface="Calibri" pitchFamily="34" charset="-120"/>
              </a:rPr>
              <a:t>4</a:t>
            </a:r>
            <a:endParaRPr lang="en-US" sz="1150" dirty="0"/>
          </a:p>
        </p:txBody>
      </p:sp>
      <p:sp>
        <p:nvSpPr>
          <p:cNvPr id="21" name="Text 19"/>
          <p:cNvSpPr/>
          <p:nvPr/>
        </p:nvSpPr>
        <p:spPr>
          <a:xfrm>
            <a:off x="7552944" y="2606040"/>
            <a:ext cx="1975104" cy="365760"/>
          </a:xfrm>
          <a:prstGeom prst="rect">
            <a:avLst/>
          </a:prstGeom>
          <a:noFill/>
          <a:ln/>
        </p:spPr>
        <p:txBody>
          <a:bodyPr wrap="square" lIns="0" tIns="0" rIns="0" bIns="0" rtlCol="0" anchor="ctr"/>
          <a:lstStyle/>
          <a:p>
            <a:pPr marL="0" indent="0" algn="ctr">
              <a:buNone/>
            </a:pPr>
            <a:r>
              <a:rPr lang="en-US" sz="1900" b="1" dirty="0">
                <a:solidFill>
                  <a:srgbClr val="1B2B26"/>
                </a:solidFill>
                <a:latin typeface="Cambria" pitchFamily="34" charset="0"/>
                <a:ea typeface="Cambria" pitchFamily="34" charset="-122"/>
                <a:cs typeface="Cambria" pitchFamily="34" charset="-120"/>
              </a:rPr>
              <a:t>Confirm</a:t>
            </a:r>
            <a:endParaRPr lang="en-US" sz="1900" dirty="0"/>
          </a:p>
        </p:txBody>
      </p:sp>
      <p:sp>
        <p:nvSpPr>
          <p:cNvPr id="22" name="Text 20"/>
          <p:cNvSpPr/>
          <p:nvPr/>
        </p:nvSpPr>
        <p:spPr>
          <a:xfrm>
            <a:off x="7690104" y="3063240"/>
            <a:ext cx="1700784" cy="914400"/>
          </a:xfrm>
          <a:prstGeom prst="rect">
            <a:avLst/>
          </a:prstGeom>
          <a:noFill/>
          <a:ln/>
        </p:spPr>
        <p:txBody>
          <a:bodyPr wrap="square" lIns="0" tIns="0" rIns="0" bIns="0" rtlCol="0" anchor="ctr"/>
          <a:lstStyle/>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A human promotes</a:t>
            </a:r>
            <a:endParaRPr lang="en-US" sz="1250" dirty="0"/>
          </a:p>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each item</a:t>
            </a:r>
            <a:endParaRPr lang="en-US" sz="1250" dirty="0"/>
          </a:p>
        </p:txBody>
      </p:sp>
      <p:sp>
        <p:nvSpPr>
          <p:cNvPr id="23" name="Text 21"/>
          <p:cNvSpPr/>
          <p:nvPr/>
        </p:nvSpPr>
        <p:spPr>
          <a:xfrm>
            <a:off x="9528048" y="2880360"/>
            <a:ext cx="329184" cy="365760"/>
          </a:xfrm>
          <a:prstGeom prst="rect">
            <a:avLst/>
          </a:prstGeom>
          <a:noFill/>
          <a:ln/>
        </p:spPr>
        <p:txBody>
          <a:bodyPr wrap="square" lIns="0" tIns="0" rIns="0" bIns="0" rtlCol="0" anchor="ctr"/>
          <a:lstStyle/>
          <a:p>
            <a:pPr marL="0" indent="0" algn="ctr">
              <a:buNone/>
            </a:pPr>
            <a:r>
              <a:rPr lang="en-US" sz="1800" dirty="0">
                <a:solidFill>
                  <a:srgbClr val="6E7B74"/>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9857232" y="2057400"/>
            <a:ext cx="1975104" cy="2148840"/>
          </a:xfrm>
          <a:prstGeom prst="roundRect">
            <a:avLst>
              <a:gd name="adj" fmla="val 5556"/>
            </a:avLst>
          </a:prstGeom>
          <a:solidFill>
            <a:srgbClr val="E8F0EA"/>
          </a:solidFill>
          <a:ln w="15875">
            <a:solidFill>
              <a:srgbClr val="4E7C63"/>
            </a:solidFill>
            <a:prstDash val="solid"/>
          </a:ln>
        </p:spPr>
      </p:sp>
      <p:sp>
        <p:nvSpPr>
          <p:cNvPr id="25" name="Text 23"/>
          <p:cNvSpPr/>
          <p:nvPr/>
        </p:nvSpPr>
        <p:spPr>
          <a:xfrm>
            <a:off x="9857232" y="2240280"/>
            <a:ext cx="1975104" cy="320040"/>
          </a:xfrm>
          <a:prstGeom prst="rect">
            <a:avLst/>
          </a:prstGeom>
          <a:noFill/>
          <a:ln/>
        </p:spPr>
        <p:txBody>
          <a:bodyPr wrap="square" lIns="0" tIns="0" rIns="0" bIns="0" rtlCol="0" anchor="ctr"/>
          <a:lstStyle/>
          <a:p>
            <a:pPr marL="0" indent="0" algn="ctr">
              <a:buNone/>
            </a:pPr>
            <a:r>
              <a:rPr lang="en-US" sz="1150" b="1" kern="0" spc="100" dirty="0">
                <a:solidFill>
                  <a:srgbClr val="4E7C63"/>
                </a:solidFill>
                <a:latin typeface="Calibri" pitchFamily="34" charset="0"/>
                <a:ea typeface="Calibri" pitchFamily="34" charset="-122"/>
                <a:cs typeface="Calibri" pitchFamily="34" charset="-120"/>
              </a:rPr>
              <a:t>5</a:t>
            </a:r>
            <a:endParaRPr lang="en-US" sz="1150" dirty="0"/>
          </a:p>
        </p:txBody>
      </p:sp>
      <p:sp>
        <p:nvSpPr>
          <p:cNvPr id="26" name="Text 24"/>
          <p:cNvSpPr/>
          <p:nvPr/>
        </p:nvSpPr>
        <p:spPr>
          <a:xfrm>
            <a:off x="9857232" y="2606040"/>
            <a:ext cx="1975104" cy="365760"/>
          </a:xfrm>
          <a:prstGeom prst="rect">
            <a:avLst/>
          </a:prstGeom>
          <a:noFill/>
          <a:ln/>
        </p:spPr>
        <p:txBody>
          <a:bodyPr wrap="square" lIns="0" tIns="0" rIns="0" bIns="0" rtlCol="0" anchor="ctr"/>
          <a:lstStyle/>
          <a:p>
            <a:pPr marL="0" indent="0" algn="ctr">
              <a:buNone/>
            </a:pPr>
            <a:r>
              <a:rPr lang="en-US" sz="1900" b="1" dirty="0">
                <a:solidFill>
                  <a:srgbClr val="1B2B26"/>
                </a:solidFill>
                <a:latin typeface="Cambria" pitchFamily="34" charset="0"/>
                <a:ea typeface="Cambria" pitchFamily="34" charset="-122"/>
                <a:cs typeface="Cambria" pitchFamily="34" charset="-120"/>
              </a:rPr>
              <a:t>Live plan</a:t>
            </a:r>
            <a:endParaRPr lang="en-US" sz="1900" dirty="0"/>
          </a:p>
        </p:txBody>
      </p:sp>
      <p:sp>
        <p:nvSpPr>
          <p:cNvPr id="27" name="Text 25"/>
          <p:cNvSpPr/>
          <p:nvPr/>
        </p:nvSpPr>
        <p:spPr>
          <a:xfrm>
            <a:off x="9994392" y="3063240"/>
            <a:ext cx="1700784" cy="914400"/>
          </a:xfrm>
          <a:prstGeom prst="rect">
            <a:avLst/>
          </a:prstGeom>
          <a:noFill/>
          <a:ln/>
        </p:spPr>
        <p:txBody>
          <a:bodyPr wrap="square" lIns="0" tIns="0" rIns="0" bIns="0" rtlCol="0" anchor="ctr"/>
          <a:lstStyle/>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Reminders, fridge</a:t>
            </a:r>
            <a:endParaRPr lang="en-US" sz="1250" dirty="0"/>
          </a:p>
          <a:p>
            <a:pPr marL="0" indent="0" algn="ctr">
              <a:lnSpc>
                <a:spcPts val="1700"/>
              </a:lnSpc>
              <a:buNone/>
            </a:pPr>
            <a:r>
              <a:rPr lang="en-US" sz="1250" dirty="0">
                <a:solidFill>
                  <a:srgbClr val="3F4A44"/>
                </a:solidFill>
                <a:latin typeface="Calibri" pitchFamily="34" charset="0"/>
                <a:ea typeface="Calibri" pitchFamily="34" charset="-122"/>
                <a:cs typeface="Calibri" pitchFamily="34" charset="-120"/>
              </a:rPr>
              <a:t>sheet, family link</a:t>
            </a:r>
            <a:endParaRPr lang="en-US" sz="1250" dirty="0"/>
          </a:p>
        </p:txBody>
      </p:sp>
      <p:sp>
        <p:nvSpPr>
          <p:cNvPr id="28" name="Shape 26"/>
          <p:cNvSpPr/>
          <p:nvPr/>
        </p:nvSpPr>
        <p:spPr>
          <a:xfrm>
            <a:off x="640080" y="4617720"/>
            <a:ext cx="10881360" cy="1143000"/>
          </a:xfrm>
          <a:prstGeom prst="roundRect">
            <a:avLst>
              <a:gd name="adj" fmla="val 9600"/>
            </a:avLst>
          </a:prstGeom>
          <a:solidFill>
            <a:srgbClr val="1B2B26"/>
          </a:solidFill>
          <a:ln w="12700">
            <a:solidFill>
              <a:srgbClr val="1B2B26"/>
            </a:solidFill>
            <a:prstDash val="solid"/>
          </a:ln>
        </p:spPr>
      </p:sp>
      <p:sp>
        <p:nvSpPr>
          <p:cNvPr id="29" name="Text 27"/>
          <p:cNvSpPr/>
          <p:nvPr/>
        </p:nvSpPr>
        <p:spPr>
          <a:xfrm>
            <a:off x="1051560" y="4800600"/>
            <a:ext cx="42062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Steps 3 and 4 are the product.</a:t>
            </a:r>
            <a:endParaRPr lang="en-US" sz="1800" dirty="0"/>
          </a:p>
        </p:txBody>
      </p:sp>
      <p:sp>
        <p:nvSpPr>
          <p:cNvPr id="30" name="Text 28"/>
          <p:cNvSpPr/>
          <p:nvPr/>
        </p:nvSpPr>
        <p:spPr>
          <a:xfrm>
            <a:off x="1051560" y="5193792"/>
            <a:ext cx="10332720" cy="411480"/>
          </a:xfrm>
          <a:prstGeom prst="rect">
            <a:avLst/>
          </a:prstGeom>
          <a:noFill/>
          <a:ln/>
        </p:spPr>
        <p:txBody>
          <a:bodyPr wrap="square" lIns="0" tIns="0" rIns="0" bIns="0" rtlCol="0" anchor="ctr"/>
          <a:lstStyle/>
          <a:p>
            <a:pPr marL="0" indent="0">
              <a:buNone/>
            </a:pPr>
            <a:r>
              <a:rPr lang="en-US" sz="1350" dirty="0">
                <a:solidFill>
                  <a:srgbClr val="9FB8AA"/>
                </a:solidFill>
                <a:latin typeface="Calibri" pitchFamily="34" charset="0"/>
                <a:ea typeface="Calibri" pitchFamily="34" charset="-122"/>
                <a:cs typeface="Calibri" pitchFamily="34" charset="-120"/>
              </a:rPr>
              <a:t>Everything else is plumbing that other teams will also have. The two gates are what make the output trustworthy enough to act 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B4701F"/>
                </a:solidFill>
                <a:latin typeface="Calibri" pitchFamily="34" charset="0"/>
                <a:ea typeface="Calibri" pitchFamily="34" charset="-122"/>
                <a:cs typeface="Calibri" pitchFamily="34" charset="-120"/>
              </a:rPr>
              <a:t>SAFETY GATE 1 OF 2</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Quote grounding - hallucination blocked in code</a:t>
            </a:r>
            <a:endParaRPr lang="en-US" sz="3800" dirty="0"/>
          </a:p>
        </p:txBody>
      </p:sp>
      <p:sp>
        <p:nvSpPr>
          <p:cNvPr id="4" name="Shape 2"/>
          <p:cNvSpPr/>
          <p:nvPr/>
        </p:nvSpPr>
        <p:spPr>
          <a:xfrm>
            <a:off x="640080" y="1737360"/>
            <a:ext cx="5669280" cy="2880360"/>
          </a:xfrm>
          <a:prstGeom prst="roundRect">
            <a:avLst>
              <a:gd name="adj" fmla="val 3810"/>
            </a:avLst>
          </a:prstGeom>
          <a:solidFill>
            <a:srgbClr val="F6F8F7"/>
          </a:solidFill>
          <a:ln w="12700">
            <a:solidFill>
              <a:srgbClr val="D8E0DB"/>
            </a:solidFill>
            <a:prstDash val="solid"/>
          </a:ln>
        </p:spPr>
      </p:sp>
      <p:sp>
        <p:nvSpPr>
          <p:cNvPr id="5" name="Text 3"/>
          <p:cNvSpPr/>
          <p:nvPr/>
        </p:nvSpPr>
        <p:spPr>
          <a:xfrm>
            <a:off x="1005840" y="1965960"/>
            <a:ext cx="4937760" cy="320040"/>
          </a:xfrm>
          <a:prstGeom prst="rect">
            <a:avLst/>
          </a:prstGeom>
          <a:noFill/>
          <a:ln/>
        </p:spPr>
        <p:txBody>
          <a:bodyPr wrap="square" lIns="0" tIns="0" rIns="0" bIns="0" rtlCol="0" anchor="ctr"/>
          <a:lstStyle/>
          <a:p>
            <a:pPr marL="0" indent="0">
              <a:buNone/>
            </a:pPr>
            <a:r>
              <a:rPr lang="en-US" sz="1450" b="1" dirty="0">
                <a:solidFill>
                  <a:srgbClr val="1B2B26"/>
                </a:solidFill>
                <a:latin typeface="Calibri" pitchFamily="34" charset="0"/>
                <a:ea typeface="Calibri" pitchFamily="34" charset="-122"/>
                <a:cs typeface="Calibri" pitchFamily="34" charset="-120"/>
              </a:rPr>
              <a:t>Every item Claude returns must carry:</a:t>
            </a:r>
            <a:endParaRPr lang="en-US" sz="1450" dirty="0"/>
          </a:p>
        </p:txBody>
      </p:sp>
      <p:sp>
        <p:nvSpPr>
          <p:cNvPr id="6" name="Text 4"/>
          <p:cNvSpPr/>
          <p:nvPr/>
        </p:nvSpPr>
        <p:spPr>
          <a:xfrm>
            <a:off x="1005840" y="2377440"/>
            <a:ext cx="4937760" cy="10972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3F4A44"/>
                </a:solidFill>
                <a:latin typeface="Calibri" pitchFamily="34" charset="0"/>
                <a:ea typeface="Calibri" pitchFamily="34" charset="-122"/>
                <a:cs typeface="Calibri" pitchFamily="34" charset="-120"/>
              </a:rPr>
              <a:t>a verbatim quote from the source document</a:t>
            </a:r>
            <a:endParaRPr lang="en-US" sz="1350" dirty="0"/>
          </a:p>
          <a:p>
            <a:pPr marL="342900" indent="-342900">
              <a:spcAft>
                <a:spcPts val="800"/>
              </a:spcAft>
              <a:buSzPct val="100000"/>
              <a:buChar char="•"/>
            </a:pPr>
            <a:r>
              <a:rPr lang="en-US" sz="1350" dirty="0">
                <a:solidFill>
                  <a:srgbClr val="3F4A44"/>
                </a:solidFill>
                <a:latin typeface="Calibri" pitchFamily="34" charset="0"/>
                <a:ea typeface="Calibri" pitchFamily="34" charset="-122"/>
                <a:cs typeface="Calibri" pitchFamily="34" charset="-120"/>
              </a:rPr>
              <a:t>the page number it came from</a:t>
            </a:r>
            <a:endParaRPr lang="en-US" sz="1350" dirty="0"/>
          </a:p>
          <a:p>
            <a:pPr marL="342900" indent="-342900">
              <a:spcAft>
                <a:spcPts val="800"/>
              </a:spcAft>
              <a:buSzPct val="100000"/>
              <a:buChar char="•"/>
            </a:pPr>
            <a:r>
              <a:rPr lang="en-US" sz="1350" dirty="0">
                <a:solidFill>
                  <a:srgbClr val="3F4A44"/>
                </a:solidFill>
                <a:latin typeface="Calibri" pitchFamily="34" charset="0"/>
                <a:ea typeface="Calibri" pitchFamily="34" charset="-122"/>
                <a:cs typeface="Calibri" pitchFamily="34" charset="-120"/>
              </a:rPr>
              <a:t>a structured payload matching a fixed schema</a:t>
            </a:r>
            <a:endParaRPr lang="en-US" sz="1350" dirty="0"/>
          </a:p>
        </p:txBody>
      </p:sp>
      <p:sp>
        <p:nvSpPr>
          <p:cNvPr id="7" name="Text 5"/>
          <p:cNvSpPr/>
          <p:nvPr/>
        </p:nvSpPr>
        <p:spPr>
          <a:xfrm>
            <a:off x="1005840" y="3566160"/>
            <a:ext cx="4937760" cy="457200"/>
          </a:xfrm>
          <a:prstGeom prst="rect">
            <a:avLst/>
          </a:prstGeom>
          <a:noFill/>
          <a:ln/>
        </p:spPr>
        <p:txBody>
          <a:bodyPr wrap="square" lIns="0" tIns="0" rIns="0" bIns="0" rtlCol="0" anchor="ctr"/>
          <a:lstStyle/>
          <a:p>
            <a:pPr marL="0" indent="0">
              <a:buNone/>
            </a:pPr>
            <a:r>
              <a:rPr lang="en-US" sz="1350" dirty="0">
                <a:solidFill>
                  <a:srgbClr val="3F4A44"/>
                </a:solidFill>
                <a:latin typeface="Calibri" pitchFamily="34" charset="0"/>
                <a:ea typeface="Calibri" pitchFamily="34" charset="-122"/>
                <a:cs typeface="Calibri" pitchFamily="34" charset="-120"/>
              </a:rPr>
              <a:t>The function then searches the submitted page text for that exact quote.</a:t>
            </a:r>
            <a:endParaRPr lang="en-US" sz="1350" dirty="0"/>
          </a:p>
        </p:txBody>
      </p:sp>
      <p:sp>
        <p:nvSpPr>
          <p:cNvPr id="8" name="Text 6"/>
          <p:cNvSpPr/>
          <p:nvPr/>
        </p:nvSpPr>
        <p:spPr>
          <a:xfrm>
            <a:off x="1005840" y="4114800"/>
            <a:ext cx="4937760" cy="274320"/>
          </a:xfrm>
          <a:prstGeom prst="rect">
            <a:avLst/>
          </a:prstGeom>
          <a:noFill/>
          <a:ln/>
        </p:spPr>
        <p:txBody>
          <a:bodyPr wrap="square" lIns="0" tIns="0" rIns="0" bIns="0" rtlCol="0" anchor="ctr"/>
          <a:lstStyle/>
          <a:p>
            <a:pPr marL="0" indent="0">
              <a:buNone/>
            </a:pPr>
            <a:r>
              <a:rPr lang="en-US" sz="1200" dirty="0">
                <a:solidFill>
                  <a:srgbClr val="6E7B74"/>
                </a:solidFill>
                <a:latin typeface="Courier New" pitchFamily="34" charset="0"/>
                <a:ea typeface="Courier New" pitchFamily="34" charset="-122"/>
                <a:cs typeface="Courier New" pitchFamily="34" charset="-120"/>
              </a:rPr>
              <a:t>extract.mjs</a:t>
            </a:r>
            <a:endParaRPr lang="en-US" sz="1200" dirty="0"/>
          </a:p>
        </p:txBody>
      </p:sp>
      <p:sp>
        <p:nvSpPr>
          <p:cNvPr id="9" name="Shape 7"/>
          <p:cNvSpPr/>
          <p:nvPr/>
        </p:nvSpPr>
        <p:spPr>
          <a:xfrm>
            <a:off x="6766560" y="1737360"/>
            <a:ext cx="4754880" cy="2880360"/>
          </a:xfrm>
          <a:prstGeom prst="roundRect">
            <a:avLst>
              <a:gd name="adj" fmla="val 3810"/>
            </a:avLst>
          </a:prstGeom>
          <a:solidFill>
            <a:srgbClr val="F7E9E7"/>
          </a:solidFill>
          <a:ln w="19050">
            <a:solidFill>
              <a:srgbClr val="9B3B32"/>
            </a:solidFill>
            <a:prstDash val="solid"/>
          </a:ln>
        </p:spPr>
      </p:sp>
      <p:sp>
        <p:nvSpPr>
          <p:cNvPr id="10" name="Text 8"/>
          <p:cNvSpPr/>
          <p:nvPr/>
        </p:nvSpPr>
        <p:spPr>
          <a:xfrm>
            <a:off x="7132320" y="2011680"/>
            <a:ext cx="4023360" cy="365760"/>
          </a:xfrm>
          <a:prstGeom prst="rect">
            <a:avLst/>
          </a:prstGeom>
          <a:noFill/>
          <a:ln/>
        </p:spPr>
        <p:txBody>
          <a:bodyPr wrap="square" lIns="0" tIns="0" rIns="0" bIns="0" rtlCol="0" anchor="ctr"/>
          <a:lstStyle/>
          <a:p>
            <a:pPr marL="0" indent="0">
              <a:buNone/>
            </a:pPr>
            <a:r>
              <a:rPr lang="en-US" sz="1900" b="1" dirty="0">
                <a:solidFill>
                  <a:srgbClr val="9B3B32"/>
                </a:solidFill>
                <a:latin typeface="Cambria" pitchFamily="34" charset="0"/>
                <a:ea typeface="Cambria" pitchFamily="34" charset="-122"/>
                <a:cs typeface="Cambria" pitchFamily="34" charset="-120"/>
              </a:rPr>
              <a:t>If the quote is not found</a:t>
            </a:r>
            <a:endParaRPr lang="en-US" sz="1900" dirty="0"/>
          </a:p>
        </p:txBody>
      </p:sp>
      <p:sp>
        <p:nvSpPr>
          <p:cNvPr id="11" name="Text 9"/>
          <p:cNvSpPr/>
          <p:nvPr/>
        </p:nvSpPr>
        <p:spPr>
          <a:xfrm>
            <a:off x="7132320" y="2606040"/>
            <a:ext cx="4023360" cy="457200"/>
          </a:xfrm>
          <a:prstGeom prst="rect">
            <a:avLst/>
          </a:prstGeom>
          <a:noFill/>
          <a:ln/>
        </p:spPr>
        <p:txBody>
          <a:bodyPr wrap="square" lIns="0" tIns="0" rIns="0" bIns="0" rtlCol="0" anchor="ctr"/>
          <a:lstStyle/>
          <a:p>
            <a:pPr marL="0" indent="0">
              <a:buNone/>
            </a:pPr>
            <a:r>
              <a:rPr lang="en-US" sz="2700" b="1" dirty="0">
                <a:solidFill>
                  <a:srgbClr val="9B3B32"/>
                </a:solidFill>
                <a:latin typeface="Cambria" pitchFamily="34" charset="0"/>
                <a:ea typeface="Cambria" pitchFamily="34" charset="-122"/>
                <a:cs typeface="Cambria" pitchFamily="34" charset="-120"/>
              </a:rPr>
              <a:t>the item is discarded</a:t>
            </a:r>
            <a:endParaRPr lang="en-US" sz="2700" dirty="0"/>
          </a:p>
        </p:txBody>
      </p:sp>
      <p:sp>
        <p:nvSpPr>
          <p:cNvPr id="12" name="Text 10"/>
          <p:cNvSpPr/>
          <p:nvPr/>
        </p:nvSpPr>
        <p:spPr>
          <a:xfrm>
            <a:off x="7132320" y="3108960"/>
            <a:ext cx="4023360" cy="365760"/>
          </a:xfrm>
          <a:prstGeom prst="rect">
            <a:avLst/>
          </a:prstGeom>
          <a:noFill/>
          <a:ln/>
        </p:spPr>
        <p:txBody>
          <a:bodyPr wrap="square" lIns="0" tIns="0" rIns="0" bIns="0" rtlCol="0" anchor="ctr"/>
          <a:lstStyle/>
          <a:p>
            <a:pPr marL="0" indent="0">
              <a:buNone/>
            </a:pPr>
            <a:r>
              <a:rPr lang="en-US" sz="1400" dirty="0">
                <a:solidFill>
                  <a:srgbClr val="3F4A44"/>
                </a:solidFill>
                <a:latin typeface="Calibri" pitchFamily="34" charset="0"/>
                <a:ea typeface="Calibri" pitchFamily="34" charset="-122"/>
                <a:cs typeface="Calibri" pitchFamily="34" charset="-120"/>
              </a:rPr>
              <a:t>before it ever reaches the database.</a:t>
            </a:r>
            <a:endParaRPr lang="en-US" sz="1400" dirty="0"/>
          </a:p>
        </p:txBody>
      </p:sp>
      <p:sp>
        <p:nvSpPr>
          <p:cNvPr id="13" name="Text 11"/>
          <p:cNvSpPr/>
          <p:nvPr/>
        </p:nvSpPr>
        <p:spPr>
          <a:xfrm>
            <a:off x="7132320" y="3794760"/>
            <a:ext cx="4023360" cy="457200"/>
          </a:xfrm>
          <a:prstGeom prst="rect">
            <a:avLst/>
          </a:prstGeom>
          <a:noFill/>
          <a:ln/>
        </p:spPr>
        <p:txBody>
          <a:bodyPr wrap="square" lIns="0" tIns="0" rIns="0" bIns="0" rtlCol="0" anchor="ctr"/>
          <a:lstStyle/>
          <a:p>
            <a:pPr marL="0" indent="0">
              <a:buNone/>
            </a:pPr>
            <a:r>
              <a:rPr lang="en-US" sz="1350" b="1" i="1" dirty="0">
                <a:solidFill>
                  <a:srgbClr val="9B3B32"/>
                </a:solidFill>
                <a:latin typeface="Calibri" pitchFamily="34" charset="0"/>
                <a:ea typeface="Calibri" pitchFamily="34" charset="-122"/>
                <a:cs typeface="Calibri" pitchFamily="34" charset="-120"/>
              </a:rPr>
              <a:t>Not a warning. Not a low score. Deleted.</a:t>
            </a:r>
            <a:endParaRPr lang="en-US" sz="1350" dirty="0"/>
          </a:p>
        </p:txBody>
      </p:sp>
      <p:sp>
        <p:nvSpPr>
          <p:cNvPr id="14" name="Shape 12"/>
          <p:cNvSpPr/>
          <p:nvPr/>
        </p:nvSpPr>
        <p:spPr>
          <a:xfrm>
            <a:off x="640080" y="4892040"/>
            <a:ext cx="10881360" cy="914400"/>
          </a:xfrm>
          <a:prstGeom prst="roundRect">
            <a:avLst>
              <a:gd name="adj" fmla="val 12000"/>
            </a:avLst>
          </a:prstGeom>
          <a:solidFill>
            <a:srgbClr val="E8F0EA"/>
          </a:solidFill>
          <a:ln w="15875">
            <a:solidFill>
              <a:srgbClr val="4E7C63"/>
            </a:solidFill>
            <a:prstDash val="solid"/>
          </a:ln>
        </p:spPr>
      </p:sp>
      <p:sp>
        <p:nvSpPr>
          <p:cNvPr id="15" name="Text 13"/>
          <p:cNvSpPr/>
          <p:nvPr/>
        </p:nvSpPr>
        <p:spPr>
          <a:xfrm>
            <a:off x="1051560" y="5029200"/>
            <a:ext cx="10332720" cy="320040"/>
          </a:xfrm>
          <a:prstGeom prst="rect">
            <a:avLst/>
          </a:prstGeom>
          <a:noFill/>
          <a:ln/>
        </p:spPr>
        <p:txBody>
          <a:bodyPr wrap="square" lIns="0" tIns="0" rIns="0" bIns="0" rtlCol="0" anchor="ctr"/>
          <a:lstStyle/>
          <a:p>
            <a:pPr marL="0" indent="0">
              <a:buNone/>
            </a:pPr>
            <a:r>
              <a:rPr lang="en-US" sz="1700" b="1" dirty="0">
                <a:solidFill>
                  <a:srgbClr val="4E7C63"/>
                </a:solidFill>
                <a:latin typeface="Cambria" pitchFamily="34" charset="0"/>
                <a:ea typeface="Cambria" pitchFamily="34" charset="-122"/>
                <a:cs typeface="Cambria" pitchFamily="34" charset="-120"/>
              </a:rPr>
              <a:t>Anti-hallucination as a code path, not a prompt instruction.</a:t>
            </a:r>
            <a:endParaRPr lang="en-US" sz="1700" dirty="0"/>
          </a:p>
        </p:txBody>
      </p:sp>
      <p:sp>
        <p:nvSpPr>
          <p:cNvPr id="16" name="Text 14"/>
          <p:cNvSpPr/>
          <p:nvPr/>
        </p:nvSpPr>
        <p:spPr>
          <a:xfrm>
            <a:off x="1051560" y="5376672"/>
            <a:ext cx="10332720" cy="320040"/>
          </a:xfrm>
          <a:prstGeom prst="rect">
            <a:avLst/>
          </a:prstGeom>
          <a:noFill/>
          <a:ln/>
        </p:spPr>
        <p:txBody>
          <a:bodyPr wrap="square" lIns="0" tIns="0" rIns="0" bIns="0" rtlCol="0" anchor="ctr"/>
          <a:lstStyle/>
          <a:p>
            <a:pPr marL="0" indent="0">
              <a:buNone/>
            </a:pPr>
            <a:r>
              <a:rPr lang="en-US" sz="1350" dirty="0">
                <a:solidFill>
                  <a:srgbClr val="3F4A44"/>
                </a:solidFill>
                <a:latin typeface="Calibri" pitchFamily="34" charset="0"/>
                <a:ea typeface="Calibri" pitchFamily="34" charset="-122"/>
                <a:cs typeface="Calibri" pitchFamily="34" charset="-120"/>
              </a:rPr>
              <a:t>Asking a model politely not to invent things is a hope. Verifying its output against the source is a guarantee.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B4701F"/>
                </a:solidFill>
                <a:latin typeface="Calibri" pitchFamily="34" charset="0"/>
                <a:ea typeface="Calibri" pitchFamily="34" charset="-122"/>
                <a:cs typeface="Calibri" pitchFamily="34" charset="-120"/>
              </a:rPr>
              <a:t>SAFETY GATE 2 OF 2</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Human confirmation - enforced by the schema</a:t>
            </a:r>
            <a:endParaRPr lang="en-US" sz="3800" dirty="0"/>
          </a:p>
        </p:txBody>
      </p:sp>
      <p:sp>
        <p:nvSpPr>
          <p:cNvPr id="4" name="Shape 2"/>
          <p:cNvSpPr/>
          <p:nvPr/>
        </p:nvSpPr>
        <p:spPr>
          <a:xfrm>
            <a:off x="640080" y="1965960"/>
            <a:ext cx="3566160" cy="2286000"/>
          </a:xfrm>
          <a:prstGeom prst="roundRect">
            <a:avLst>
              <a:gd name="adj" fmla="val 4800"/>
            </a:avLst>
          </a:prstGeom>
          <a:solidFill>
            <a:srgbClr val="FBF0E0"/>
          </a:solidFill>
          <a:ln w="19050">
            <a:solidFill>
              <a:srgbClr val="B4701F"/>
            </a:solidFill>
            <a:prstDash val="solid"/>
          </a:ln>
        </p:spPr>
      </p:sp>
      <p:sp>
        <p:nvSpPr>
          <p:cNvPr id="5" name="Text 3"/>
          <p:cNvSpPr/>
          <p:nvPr/>
        </p:nvSpPr>
        <p:spPr>
          <a:xfrm>
            <a:off x="914400" y="2240280"/>
            <a:ext cx="3017520" cy="320040"/>
          </a:xfrm>
          <a:prstGeom prst="rect">
            <a:avLst/>
          </a:prstGeom>
          <a:noFill/>
          <a:ln/>
        </p:spPr>
        <p:txBody>
          <a:bodyPr wrap="square" lIns="0" tIns="0" rIns="0" bIns="0" rtlCol="0" anchor="ctr"/>
          <a:lstStyle/>
          <a:p>
            <a:pPr marL="0" indent="0">
              <a:buNone/>
            </a:pPr>
            <a:r>
              <a:rPr lang="en-US" sz="1500" b="1" dirty="0">
                <a:solidFill>
                  <a:srgbClr val="B4701F"/>
                </a:solidFill>
                <a:latin typeface="Courier New" pitchFamily="34" charset="0"/>
                <a:ea typeface="Courier New" pitchFamily="34" charset="-122"/>
                <a:cs typeface="Courier New" pitchFamily="34" charset="-120"/>
              </a:rPr>
              <a:t>candidate_items</a:t>
            </a:r>
            <a:endParaRPr lang="en-US" sz="1500" dirty="0"/>
          </a:p>
        </p:txBody>
      </p:sp>
      <p:sp>
        <p:nvSpPr>
          <p:cNvPr id="6" name="Text 4"/>
          <p:cNvSpPr/>
          <p:nvPr/>
        </p:nvSpPr>
        <p:spPr>
          <a:xfrm>
            <a:off x="914400" y="2697480"/>
            <a:ext cx="3017520" cy="1280160"/>
          </a:xfrm>
          <a:prstGeom prst="rect">
            <a:avLst/>
          </a:prstGeom>
          <a:noFill/>
          <a:ln/>
        </p:spPr>
        <p:txBody>
          <a:bodyPr wrap="square" lIns="0" tIns="0" rIns="0" bIns="0" rtlCol="0" anchor="ctr"/>
          <a:lstStyle/>
          <a:p>
            <a:pPr marL="0" indent="0">
              <a:lnSpc>
                <a:spcPts val="1900"/>
              </a:lnSpc>
              <a:buNone/>
            </a:pPr>
            <a:r>
              <a:rPr lang="en-US" sz="1300" dirty="0">
                <a:solidFill>
                  <a:srgbClr val="3F4A44"/>
                </a:solidFill>
                <a:latin typeface="Calibri" pitchFamily="34" charset="0"/>
                <a:ea typeface="Calibri" pitchFamily="34" charset="-122"/>
                <a:cs typeface="Calibri" pitchFamily="34" charset="-120"/>
              </a:rPr>
              <a:t>Unconfirmed AI output.</a:t>
            </a:r>
            <a:endParaRPr lang="en-US" sz="1300" dirty="0"/>
          </a:p>
          <a:p>
            <a:pPr marL="0" indent="0">
              <a:lnSpc>
                <a:spcPts val="1900"/>
              </a:lnSpc>
              <a:buNone/>
            </a:pPr>
            <a:r>
              <a:rPr lang="en-US" sz="1300" dirty="0">
                <a:solidFill>
                  <a:srgbClr val="3F4A44"/>
                </a:solidFill>
                <a:latin typeface="Calibri" pitchFamily="34" charset="0"/>
                <a:ea typeface="Calibri" pitchFamily="34" charset="-122"/>
                <a:cs typeface="Calibri" pitchFamily="34" charset="-120"/>
              </a:rPr>
              <a:t>Visible to the caregiver for review.</a:t>
            </a:r>
            <a:endParaRPr lang="en-US" sz="1300" dirty="0"/>
          </a:p>
          <a:p>
            <a:pPr marL="0" indent="0">
              <a:lnSpc>
                <a:spcPts val="1900"/>
              </a:lnSpc>
              <a:buNone/>
            </a:pPr>
            <a:r>
              <a:rPr lang="en-US" sz="1300" dirty="0">
                <a:solidFill>
                  <a:srgbClr val="3F4A44"/>
                </a:solidFill>
                <a:latin typeface="Calibri" pitchFamily="34" charset="0"/>
                <a:ea typeface="Calibri" pitchFamily="34" charset="-122"/>
                <a:cs typeface="Calibri" pitchFamily="34" charset="-120"/>
              </a:rPr>
              <a:t>Never surfaced as care instructions.</a:t>
            </a:r>
            <a:endParaRPr lang="en-US" sz="1300" dirty="0"/>
          </a:p>
        </p:txBody>
      </p:sp>
      <p:sp>
        <p:nvSpPr>
          <p:cNvPr id="7" name="Shape 5"/>
          <p:cNvSpPr/>
          <p:nvPr/>
        </p:nvSpPr>
        <p:spPr>
          <a:xfrm>
            <a:off x="4434840" y="2788920"/>
            <a:ext cx="1325880" cy="658368"/>
          </a:xfrm>
          <a:prstGeom prst="roundRect">
            <a:avLst>
              <a:gd name="adj" fmla="val 13889"/>
            </a:avLst>
          </a:prstGeom>
          <a:solidFill>
            <a:srgbClr val="1B2B26"/>
          </a:solidFill>
          <a:ln w="12700">
            <a:solidFill>
              <a:srgbClr val="1B2B26"/>
            </a:solidFill>
            <a:prstDash val="solid"/>
          </a:ln>
        </p:spPr>
      </p:sp>
      <p:sp>
        <p:nvSpPr>
          <p:cNvPr id="8" name="Text 6"/>
          <p:cNvSpPr/>
          <p:nvPr/>
        </p:nvSpPr>
        <p:spPr>
          <a:xfrm>
            <a:off x="4434840" y="2880360"/>
            <a:ext cx="1325880" cy="256032"/>
          </a:xfrm>
          <a:prstGeom prst="rect">
            <a:avLst/>
          </a:prstGeom>
          <a:noFill/>
          <a:ln/>
        </p:spPr>
        <p:txBody>
          <a:bodyPr wrap="square" lIns="0" tIns="0" rIns="0" bIns="0" rtlCol="0" anchor="ctr"/>
          <a:lstStyle/>
          <a:p>
            <a:pPr marL="0" indent="0" algn="ctr">
              <a:buNone/>
            </a:pPr>
            <a:r>
              <a:rPr lang="en-US" sz="1150" b="1" dirty="0">
                <a:solidFill>
                  <a:srgbClr val="9FB8AA"/>
                </a:solidFill>
                <a:latin typeface="Calibri" pitchFamily="34" charset="0"/>
                <a:ea typeface="Calibri" pitchFamily="34" charset="-122"/>
                <a:cs typeface="Calibri" pitchFamily="34" charset="-120"/>
              </a:rPr>
              <a:t>a person</a:t>
            </a:r>
            <a:endParaRPr lang="en-US" sz="1150" dirty="0"/>
          </a:p>
        </p:txBody>
      </p:sp>
      <p:sp>
        <p:nvSpPr>
          <p:cNvPr id="9" name="Text 7"/>
          <p:cNvSpPr/>
          <p:nvPr/>
        </p:nvSpPr>
        <p:spPr>
          <a:xfrm>
            <a:off x="4434840" y="3127248"/>
            <a:ext cx="1325880"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confirms</a:t>
            </a:r>
            <a:endParaRPr lang="en-US" sz="1300" dirty="0"/>
          </a:p>
        </p:txBody>
      </p:sp>
      <p:sp>
        <p:nvSpPr>
          <p:cNvPr id="10" name="Text 8"/>
          <p:cNvSpPr/>
          <p:nvPr/>
        </p:nvSpPr>
        <p:spPr>
          <a:xfrm>
            <a:off x="5806440" y="2880360"/>
            <a:ext cx="411480" cy="457200"/>
          </a:xfrm>
          <a:prstGeom prst="rect">
            <a:avLst/>
          </a:prstGeom>
          <a:noFill/>
          <a:ln/>
        </p:spPr>
        <p:txBody>
          <a:bodyPr wrap="square" lIns="0" tIns="0" rIns="0" bIns="0" rtlCol="0" anchor="ctr"/>
          <a:lstStyle/>
          <a:p>
            <a:pPr marL="0" indent="0" algn="ctr">
              <a:buNone/>
            </a:pPr>
            <a:r>
              <a:rPr lang="en-US" sz="2000" dirty="0">
                <a:solidFill>
                  <a:srgbClr val="6E7B74"/>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6309360" y="1965960"/>
            <a:ext cx="3566160" cy="2286000"/>
          </a:xfrm>
          <a:prstGeom prst="roundRect">
            <a:avLst>
              <a:gd name="adj" fmla="val 4800"/>
            </a:avLst>
          </a:prstGeom>
          <a:solidFill>
            <a:srgbClr val="E8F0EA"/>
          </a:solidFill>
          <a:ln w="19050">
            <a:solidFill>
              <a:srgbClr val="4E7C63"/>
            </a:solidFill>
            <a:prstDash val="solid"/>
          </a:ln>
        </p:spPr>
      </p:sp>
      <p:sp>
        <p:nvSpPr>
          <p:cNvPr id="12" name="Text 10"/>
          <p:cNvSpPr/>
          <p:nvPr/>
        </p:nvSpPr>
        <p:spPr>
          <a:xfrm>
            <a:off x="6583680" y="2240280"/>
            <a:ext cx="3017520" cy="320040"/>
          </a:xfrm>
          <a:prstGeom prst="rect">
            <a:avLst/>
          </a:prstGeom>
          <a:noFill/>
          <a:ln/>
        </p:spPr>
        <p:txBody>
          <a:bodyPr wrap="square" lIns="0" tIns="0" rIns="0" bIns="0" rtlCol="0" anchor="ctr"/>
          <a:lstStyle/>
          <a:p>
            <a:pPr marL="0" indent="0">
              <a:buNone/>
            </a:pPr>
            <a:r>
              <a:rPr lang="en-US" sz="1500" b="1" dirty="0">
                <a:solidFill>
                  <a:srgbClr val="4E7C63"/>
                </a:solidFill>
                <a:latin typeface="Courier New" pitchFamily="34" charset="0"/>
                <a:ea typeface="Courier New" pitchFamily="34" charset="-122"/>
                <a:cs typeface="Courier New" pitchFamily="34" charset="-120"/>
              </a:rPr>
              <a:t>plan_items</a:t>
            </a:r>
            <a:endParaRPr lang="en-US" sz="1500" dirty="0"/>
          </a:p>
        </p:txBody>
      </p:sp>
      <p:sp>
        <p:nvSpPr>
          <p:cNvPr id="13" name="Text 11"/>
          <p:cNvSpPr/>
          <p:nvPr/>
        </p:nvSpPr>
        <p:spPr>
          <a:xfrm>
            <a:off x="6583680" y="2697480"/>
            <a:ext cx="3017520" cy="1280160"/>
          </a:xfrm>
          <a:prstGeom prst="rect">
            <a:avLst/>
          </a:prstGeom>
          <a:noFill/>
          <a:ln/>
        </p:spPr>
        <p:txBody>
          <a:bodyPr wrap="square" lIns="0" tIns="0" rIns="0" bIns="0" rtlCol="0" anchor="ctr"/>
          <a:lstStyle/>
          <a:p>
            <a:pPr marL="0" indent="0">
              <a:lnSpc>
                <a:spcPts val="1900"/>
              </a:lnSpc>
              <a:buNone/>
            </a:pPr>
            <a:r>
              <a:rPr lang="en-US" sz="1300" dirty="0">
                <a:solidFill>
                  <a:srgbClr val="3F4A44"/>
                </a:solidFill>
                <a:latin typeface="Calibri" pitchFamily="34" charset="0"/>
                <a:ea typeface="Calibri" pitchFamily="34" charset="-122"/>
                <a:cs typeface="Calibri" pitchFamily="34" charset="-120"/>
              </a:rPr>
              <a:t>The confirmed care plan.</a:t>
            </a:r>
            <a:endParaRPr lang="en-US" sz="1300" dirty="0"/>
          </a:p>
          <a:p>
            <a:pPr marL="0" indent="0">
              <a:lnSpc>
                <a:spcPts val="1900"/>
              </a:lnSpc>
              <a:buNone/>
            </a:pPr>
            <a:r>
              <a:rPr lang="en-US" sz="1300" dirty="0">
                <a:solidFill>
                  <a:srgbClr val="3F4A44"/>
                </a:solidFill>
                <a:latin typeface="Calibri" pitchFamily="34" charset="0"/>
                <a:ea typeface="Calibri" pitchFamily="34" charset="-122"/>
                <a:cs typeface="Calibri" pitchFamily="34" charset="-120"/>
              </a:rPr>
              <a:t>Drives reminders, the fridge sheet,</a:t>
            </a:r>
            <a:endParaRPr lang="en-US" sz="1300" dirty="0"/>
          </a:p>
          <a:p>
            <a:pPr marL="0" indent="0">
              <a:lnSpc>
                <a:spcPts val="1900"/>
              </a:lnSpc>
              <a:buNone/>
            </a:pPr>
            <a:r>
              <a:rPr lang="en-US" sz="1300" dirty="0">
                <a:solidFill>
                  <a:srgbClr val="3F4A44"/>
                </a:solidFill>
                <a:latin typeface="Calibri" pitchFamily="34" charset="0"/>
                <a:ea typeface="Calibri" pitchFamily="34" charset="-122"/>
                <a:cs typeface="Calibri" pitchFamily="34" charset="-120"/>
              </a:rPr>
              <a:t>and the family share link.</a:t>
            </a:r>
            <a:endParaRPr lang="en-US" sz="1300" dirty="0"/>
          </a:p>
        </p:txBody>
      </p:sp>
      <p:sp>
        <p:nvSpPr>
          <p:cNvPr id="14" name="Shape 12"/>
          <p:cNvSpPr/>
          <p:nvPr/>
        </p:nvSpPr>
        <p:spPr>
          <a:xfrm>
            <a:off x="10104120" y="1965960"/>
            <a:ext cx="1417320" cy="2286000"/>
          </a:xfrm>
          <a:prstGeom prst="roundRect">
            <a:avLst>
              <a:gd name="adj" fmla="val 7742"/>
            </a:avLst>
          </a:prstGeom>
          <a:solidFill>
            <a:srgbClr val="F6F8F7"/>
          </a:solidFill>
          <a:ln w="12700">
            <a:solidFill>
              <a:srgbClr val="D8E0DB"/>
            </a:solidFill>
            <a:prstDash val="solid"/>
          </a:ln>
        </p:spPr>
      </p:sp>
      <p:sp>
        <p:nvSpPr>
          <p:cNvPr id="15" name="Text 13"/>
          <p:cNvSpPr/>
          <p:nvPr/>
        </p:nvSpPr>
        <p:spPr>
          <a:xfrm>
            <a:off x="10195560" y="2240280"/>
            <a:ext cx="1234440" cy="274320"/>
          </a:xfrm>
          <a:prstGeom prst="rect">
            <a:avLst/>
          </a:prstGeom>
          <a:noFill/>
          <a:ln/>
        </p:spPr>
        <p:txBody>
          <a:bodyPr wrap="square" lIns="0" tIns="0" rIns="0" bIns="0" rtlCol="0" anchor="ctr"/>
          <a:lstStyle/>
          <a:p>
            <a:pPr marL="0" indent="0" algn="ctr">
              <a:buNone/>
            </a:pPr>
            <a:r>
              <a:rPr lang="en-US" sz="1150" b="1" dirty="0">
                <a:solidFill>
                  <a:srgbClr val="6E7B74"/>
                </a:solidFill>
                <a:latin typeface="Courier New" pitchFamily="34" charset="0"/>
                <a:ea typeface="Courier New" pitchFamily="34" charset="-122"/>
                <a:cs typeface="Courier New" pitchFamily="34" charset="-120"/>
              </a:rPr>
              <a:t>audit_log</a:t>
            </a:r>
            <a:endParaRPr lang="en-US" sz="1150" dirty="0"/>
          </a:p>
        </p:txBody>
      </p:sp>
      <p:sp>
        <p:nvSpPr>
          <p:cNvPr id="16" name="Text 14"/>
          <p:cNvSpPr/>
          <p:nvPr/>
        </p:nvSpPr>
        <p:spPr>
          <a:xfrm>
            <a:off x="10195560" y="2651760"/>
            <a:ext cx="1234440" cy="1280160"/>
          </a:xfrm>
          <a:prstGeom prst="rect">
            <a:avLst/>
          </a:prstGeom>
          <a:noFill/>
          <a:ln/>
        </p:spPr>
        <p:txBody>
          <a:bodyPr wrap="square" lIns="0" tIns="0" rIns="0" bIns="0" rtlCol="0" anchor="ctr"/>
          <a:lstStyle/>
          <a:p>
            <a:pPr marL="0" indent="0" algn="ctr">
              <a:lnSpc>
                <a:spcPts val="1600"/>
              </a:lnSpc>
              <a:buNone/>
            </a:pPr>
            <a:r>
              <a:rPr lang="en-US" sz="1150" dirty="0">
                <a:solidFill>
                  <a:srgbClr val="6E7B74"/>
                </a:solidFill>
                <a:latin typeface="Calibri" pitchFamily="34" charset="0"/>
                <a:ea typeface="Calibri" pitchFamily="34" charset="-122"/>
                <a:cs typeface="Calibri" pitchFamily="34" charset="-120"/>
              </a:rPr>
              <a:t>Append-only.</a:t>
            </a:r>
            <a:endParaRPr lang="en-US" sz="1150" dirty="0"/>
          </a:p>
          <a:p>
            <a:pPr marL="0" indent="0" algn="ctr">
              <a:lnSpc>
                <a:spcPts val="1600"/>
              </a:lnSpc>
              <a:buNone/>
            </a:pPr>
            <a:r>
              <a:rPr lang="en-US" sz="1150" dirty="0">
                <a:solidFill>
                  <a:srgbClr val="6E7B74"/>
                </a:solidFill>
                <a:latin typeface="Calibri" pitchFamily="34" charset="0"/>
                <a:ea typeface="Calibri" pitchFamily="34" charset="-122"/>
                <a:cs typeface="Calibri" pitchFamily="34" charset="-120"/>
              </a:rPr>
              <a:t>Every confirm,</a:t>
            </a:r>
            <a:endParaRPr lang="en-US" sz="1150" dirty="0"/>
          </a:p>
          <a:p>
            <a:pPr marL="0" indent="0" algn="ctr">
              <a:lnSpc>
                <a:spcPts val="1600"/>
              </a:lnSpc>
              <a:buNone/>
            </a:pPr>
            <a:r>
              <a:rPr lang="en-US" sz="1150" dirty="0">
                <a:solidFill>
                  <a:srgbClr val="6E7B74"/>
                </a:solidFill>
                <a:latin typeface="Calibri" pitchFamily="34" charset="0"/>
                <a:ea typeface="Calibri" pitchFamily="34" charset="-122"/>
                <a:cs typeface="Calibri" pitchFamily="34" charset="-120"/>
              </a:rPr>
              <a:t>edit, reject,</a:t>
            </a:r>
            <a:endParaRPr lang="en-US" sz="1150" dirty="0"/>
          </a:p>
          <a:p>
            <a:pPr marL="0" indent="0" algn="ctr">
              <a:lnSpc>
                <a:spcPts val="1600"/>
              </a:lnSpc>
              <a:buNone/>
            </a:pPr>
            <a:r>
              <a:rPr lang="en-US" sz="1150" dirty="0">
                <a:solidFill>
                  <a:srgbClr val="6E7B74"/>
                </a:solidFill>
                <a:latin typeface="Calibri" pitchFamily="34" charset="0"/>
                <a:ea typeface="Calibri" pitchFamily="34" charset="-122"/>
                <a:cs typeface="Calibri" pitchFamily="34" charset="-120"/>
              </a:rPr>
              <a:t>remove.</a:t>
            </a:r>
            <a:endParaRPr lang="en-US" sz="1150" dirty="0"/>
          </a:p>
        </p:txBody>
      </p:sp>
      <p:sp>
        <p:nvSpPr>
          <p:cNvPr id="17" name="Shape 15"/>
          <p:cNvSpPr/>
          <p:nvPr/>
        </p:nvSpPr>
        <p:spPr>
          <a:xfrm>
            <a:off x="640080" y="4526280"/>
            <a:ext cx="5440680" cy="1371600"/>
          </a:xfrm>
          <a:prstGeom prst="roundRect">
            <a:avLst>
              <a:gd name="adj" fmla="val 8000"/>
            </a:avLst>
          </a:prstGeom>
          <a:solidFill>
            <a:srgbClr val="F6F8F7"/>
          </a:solidFill>
          <a:ln w="12700">
            <a:solidFill>
              <a:srgbClr val="D8E0DB"/>
            </a:solidFill>
            <a:prstDash val="solid"/>
          </a:ln>
        </p:spPr>
      </p:sp>
      <p:sp>
        <p:nvSpPr>
          <p:cNvPr id="18" name="Text 16"/>
          <p:cNvSpPr/>
          <p:nvPr/>
        </p:nvSpPr>
        <p:spPr>
          <a:xfrm>
            <a:off x="960120" y="4709160"/>
            <a:ext cx="4800600" cy="320040"/>
          </a:xfrm>
          <a:prstGeom prst="rect">
            <a:avLst/>
          </a:prstGeom>
          <a:noFill/>
          <a:ln/>
        </p:spPr>
        <p:txBody>
          <a:bodyPr wrap="square" lIns="0" tIns="0" rIns="0" bIns="0" rtlCol="0" anchor="ctr"/>
          <a:lstStyle/>
          <a:p>
            <a:pPr marL="0" indent="0">
              <a:buNone/>
            </a:pPr>
            <a:r>
              <a:rPr lang="en-US" sz="1650" b="1" dirty="0">
                <a:solidFill>
                  <a:srgbClr val="1B2B26"/>
                </a:solidFill>
                <a:latin typeface="Cambria" pitchFamily="34" charset="0"/>
                <a:ea typeface="Cambria" pitchFamily="34" charset="-122"/>
                <a:cs typeface="Cambria" pitchFamily="34" charset="-120"/>
              </a:rPr>
              <a:t>Two tables, not a boolean flag</a:t>
            </a:r>
            <a:endParaRPr lang="en-US" sz="1650" dirty="0"/>
          </a:p>
        </p:txBody>
      </p:sp>
      <p:sp>
        <p:nvSpPr>
          <p:cNvPr id="19" name="Text 17"/>
          <p:cNvSpPr/>
          <p:nvPr/>
        </p:nvSpPr>
        <p:spPr>
          <a:xfrm>
            <a:off x="960120" y="5074920"/>
            <a:ext cx="4800600" cy="6858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A confirmed column can be defaulted, mis-set, or bypassed by one careless query. Promotion across tables has to be written deliberately.</a:t>
            </a:r>
            <a:endParaRPr lang="en-US" sz="1250" dirty="0"/>
          </a:p>
        </p:txBody>
      </p:sp>
      <p:sp>
        <p:nvSpPr>
          <p:cNvPr id="20" name="Shape 18"/>
          <p:cNvSpPr/>
          <p:nvPr/>
        </p:nvSpPr>
        <p:spPr>
          <a:xfrm>
            <a:off x="6309360" y="4526280"/>
            <a:ext cx="5212080" cy="1371600"/>
          </a:xfrm>
          <a:prstGeom prst="roundRect">
            <a:avLst>
              <a:gd name="adj" fmla="val 8000"/>
            </a:avLst>
          </a:prstGeom>
          <a:solidFill>
            <a:srgbClr val="E8F0EA"/>
          </a:solidFill>
          <a:ln w="15875">
            <a:solidFill>
              <a:srgbClr val="4E7C63"/>
            </a:solidFill>
            <a:prstDash val="solid"/>
          </a:ln>
        </p:spPr>
      </p:sp>
      <p:sp>
        <p:nvSpPr>
          <p:cNvPr id="21" name="Text 19"/>
          <p:cNvSpPr/>
          <p:nvPr/>
        </p:nvSpPr>
        <p:spPr>
          <a:xfrm>
            <a:off x="6629400" y="4709160"/>
            <a:ext cx="4572000" cy="320040"/>
          </a:xfrm>
          <a:prstGeom prst="rect">
            <a:avLst/>
          </a:prstGeom>
          <a:noFill/>
          <a:ln/>
        </p:spPr>
        <p:txBody>
          <a:bodyPr wrap="square" lIns="0" tIns="0" rIns="0" bIns="0" rtlCol="0" anchor="ctr"/>
          <a:lstStyle/>
          <a:p>
            <a:pPr marL="0" indent="0">
              <a:buNone/>
            </a:pPr>
            <a:r>
              <a:rPr lang="en-US" sz="1650" b="1" dirty="0">
                <a:solidFill>
                  <a:srgbClr val="4E7C63"/>
                </a:solidFill>
                <a:latin typeface="Cambria" pitchFamily="34" charset="0"/>
                <a:ea typeface="Cambria" pitchFamily="34" charset="-122"/>
                <a:cs typeface="Cambria" pitchFamily="34" charset="-120"/>
              </a:rPr>
              <a:t>This is also the prompt-injection defense</a:t>
            </a:r>
            <a:endParaRPr lang="en-US" sz="1650" dirty="0"/>
          </a:p>
        </p:txBody>
      </p:sp>
      <p:sp>
        <p:nvSpPr>
          <p:cNvPr id="22" name="Text 20"/>
          <p:cNvSpPr/>
          <p:nvPr/>
        </p:nvSpPr>
        <p:spPr>
          <a:xfrm>
            <a:off x="6629400" y="5074920"/>
            <a:ext cx="4572000" cy="6858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A malicious instruction hidden in a document must survive quote verification and a human reading it and clicking confirm.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B4701F"/>
                </a:solidFill>
                <a:latin typeface="Calibri" pitchFamily="34" charset="0"/>
                <a:ea typeface="Calibri" pitchFamily="34" charset="-122"/>
                <a:cs typeface="Calibri" pitchFamily="34" charset="-120"/>
              </a:rPr>
              <a:t>THE HONEST EDGE CASE</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When there is nothing to ground against</a:t>
            </a:r>
            <a:endParaRPr lang="en-US" sz="3800" dirty="0"/>
          </a:p>
        </p:txBody>
      </p:sp>
      <p:sp>
        <p:nvSpPr>
          <p:cNvPr id="4" name="Text 2"/>
          <p:cNvSpPr/>
          <p:nvPr/>
        </p:nvSpPr>
        <p:spPr>
          <a:xfrm>
            <a:off x="640080" y="1691640"/>
            <a:ext cx="10881360" cy="640080"/>
          </a:xfrm>
          <a:prstGeom prst="rect">
            <a:avLst/>
          </a:prstGeom>
          <a:noFill/>
          <a:ln/>
        </p:spPr>
        <p:txBody>
          <a:bodyPr wrap="square" lIns="0" tIns="0" rIns="0" bIns="0" rtlCol="0" anchor="ctr"/>
          <a:lstStyle/>
          <a:p>
            <a:pPr marL="0" indent="0">
              <a:buNone/>
            </a:pPr>
            <a:r>
              <a:rPr lang="en-US" sz="1600" dirty="0">
                <a:solidFill>
                  <a:srgbClr val="3F4A44"/>
                </a:solidFill>
                <a:latin typeface="Calibri" pitchFamily="34" charset="0"/>
                <a:ea typeface="Calibri" pitchFamily="34" charset="-122"/>
                <a:cs typeface="Calibri" pitchFamily="34" charset="-120"/>
              </a:rPr>
              <a:t>Caregivers photograph things. A nurse's handwritten note on the back of a page is often the most important instruction in the packet - and it has no machine-readable source text to verify a quote against.</a:t>
            </a:r>
            <a:endParaRPr lang="en-US" sz="1600" dirty="0"/>
          </a:p>
        </p:txBody>
      </p:sp>
      <p:sp>
        <p:nvSpPr>
          <p:cNvPr id="5" name="Shape 3"/>
          <p:cNvSpPr/>
          <p:nvPr/>
        </p:nvSpPr>
        <p:spPr>
          <a:xfrm>
            <a:off x="640080" y="2560320"/>
            <a:ext cx="3502152" cy="2148840"/>
          </a:xfrm>
          <a:prstGeom prst="roundRect">
            <a:avLst>
              <a:gd name="adj" fmla="val 5106"/>
            </a:avLst>
          </a:prstGeom>
          <a:solidFill>
            <a:srgbClr val="E8F0EA"/>
          </a:solidFill>
          <a:ln w="17780">
            <a:solidFill>
              <a:srgbClr val="4E7C63"/>
            </a:solidFill>
            <a:prstDash val="solid"/>
          </a:ln>
        </p:spPr>
      </p:sp>
      <p:sp>
        <p:nvSpPr>
          <p:cNvPr id="6" name="Text 4"/>
          <p:cNvSpPr/>
          <p:nvPr/>
        </p:nvSpPr>
        <p:spPr>
          <a:xfrm>
            <a:off x="914400" y="2834640"/>
            <a:ext cx="2953512" cy="640080"/>
          </a:xfrm>
          <a:prstGeom prst="rect">
            <a:avLst/>
          </a:prstGeom>
          <a:noFill/>
          <a:ln/>
        </p:spPr>
        <p:txBody>
          <a:bodyPr wrap="square" lIns="0" tIns="0" rIns="0" bIns="0" rtlCol="0" anchor="ctr"/>
          <a:lstStyle/>
          <a:p>
            <a:pPr marL="0" indent="0">
              <a:buNone/>
            </a:pPr>
            <a:r>
              <a:rPr lang="en-US" sz="1750" b="1" dirty="0">
                <a:solidFill>
                  <a:srgbClr val="4E7C63"/>
                </a:solidFill>
                <a:latin typeface="Cambria" pitchFamily="34" charset="0"/>
                <a:ea typeface="Cambria" pitchFamily="34" charset="-122"/>
                <a:cs typeface="Cambria" pitchFamily="34" charset="-120"/>
              </a:rPr>
              <a:t>Photos are still supported</a:t>
            </a:r>
            <a:endParaRPr lang="en-US" sz="1750" dirty="0"/>
          </a:p>
        </p:txBody>
      </p:sp>
      <p:sp>
        <p:nvSpPr>
          <p:cNvPr id="7" name="Text 5"/>
          <p:cNvSpPr/>
          <p:nvPr/>
        </p:nvSpPr>
        <p:spPr>
          <a:xfrm>
            <a:off x="914400" y="3566160"/>
            <a:ext cx="2953512" cy="1005840"/>
          </a:xfrm>
          <a:prstGeom prst="rect">
            <a:avLst/>
          </a:prstGeom>
          <a:noFill/>
          <a:ln/>
        </p:spPr>
        <p:txBody>
          <a:bodyPr wrap="square" lIns="0" tIns="0" rIns="0" bIns="0" rtlCol="0" anchor="ctr"/>
          <a:lstStyle/>
          <a:p>
            <a:pPr marL="0" indent="0">
              <a:buNone/>
            </a:pPr>
            <a:r>
              <a:rPr lang="en-US" sz="1300" dirty="0">
                <a:solidFill>
                  <a:srgbClr val="3F4A44"/>
                </a:solidFill>
                <a:latin typeface="Calibri" pitchFamily="34" charset="0"/>
                <a:ea typeface="Calibri" pitchFamily="34" charset="-122"/>
                <a:cs typeface="Calibri" pitchFamily="34" charset="-120"/>
              </a:rPr>
              <a:t>Refusing image upload would fail the real user. Claude reads the image and extracts what it can.</a:t>
            </a:r>
            <a:endParaRPr lang="en-US" sz="1300" dirty="0"/>
          </a:p>
        </p:txBody>
      </p:sp>
      <p:sp>
        <p:nvSpPr>
          <p:cNvPr id="8" name="Shape 6"/>
          <p:cNvSpPr/>
          <p:nvPr/>
        </p:nvSpPr>
        <p:spPr>
          <a:xfrm>
            <a:off x="4325112" y="2560320"/>
            <a:ext cx="3502152" cy="2148840"/>
          </a:xfrm>
          <a:prstGeom prst="roundRect">
            <a:avLst>
              <a:gd name="adj" fmla="val 5106"/>
            </a:avLst>
          </a:prstGeom>
          <a:solidFill>
            <a:srgbClr val="FBF0E0"/>
          </a:solidFill>
          <a:ln w="17780">
            <a:solidFill>
              <a:srgbClr val="B4701F"/>
            </a:solidFill>
            <a:prstDash val="solid"/>
          </a:ln>
        </p:spPr>
      </p:sp>
      <p:sp>
        <p:nvSpPr>
          <p:cNvPr id="9" name="Text 7"/>
          <p:cNvSpPr/>
          <p:nvPr/>
        </p:nvSpPr>
        <p:spPr>
          <a:xfrm>
            <a:off x="4599432" y="2834640"/>
            <a:ext cx="2953512" cy="640080"/>
          </a:xfrm>
          <a:prstGeom prst="rect">
            <a:avLst/>
          </a:prstGeom>
          <a:noFill/>
          <a:ln/>
        </p:spPr>
        <p:txBody>
          <a:bodyPr wrap="square" lIns="0" tIns="0" rIns="0" bIns="0" rtlCol="0" anchor="ctr"/>
          <a:lstStyle/>
          <a:p>
            <a:pPr marL="0" indent="0">
              <a:buNone/>
            </a:pPr>
            <a:r>
              <a:rPr lang="en-US" sz="1750" b="1" dirty="0">
                <a:solidFill>
                  <a:srgbClr val="B4701F"/>
                </a:solidFill>
                <a:latin typeface="Cambria" pitchFamily="34" charset="0"/>
                <a:ea typeface="Cambria" pitchFamily="34" charset="-122"/>
                <a:cs typeface="Cambria" pitchFamily="34" charset="-120"/>
              </a:rPr>
              <a:t>But Gate 1 cannot run</a:t>
            </a:r>
            <a:endParaRPr lang="en-US" sz="1750" dirty="0"/>
          </a:p>
        </p:txBody>
      </p:sp>
      <p:sp>
        <p:nvSpPr>
          <p:cNvPr id="10" name="Text 8"/>
          <p:cNvSpPr/>
          <p:nvPr/>
        </p:nvSpPr>
        <p:spPr>
          <a:xfrm>
            <a:off x="4599432" y="3566160"/>
            <a:ext cx="2953512" cy="1005840"/>
          </a:xfrm>
          <a:prstGeom prst="rect">
            <a:avLst/>
          </a:prstGeom>
          <a:noFill/>
          <a:ln/>
        </p:spPr>
        <p:txBody>
          <a:bodyPr wrap="square" lIns="0" tIns="0" rIns="0" bIns="0" rtlCol="0" anchor="ctr"/>
          <a:lstStyle/>
          <a:p>
            <a:pPr marL="0" indent="0">
              <a:buNone/>
            </a:pPr>
            <a:r>
              <a:rPr lang="en-US" sz="1300" dirty="0">
                <a:solidFill>
                  <a:srgbClr val="3F4A44"/>
                </a:solidFill>
                <a:latin typeface="Calibri" pitchFamily="34" charset="0"/>
                <a:ea typeface="Calibri" pitchFamily="34" charset="-122"/>
                <a:cs typeface="Calibri" pitchFamily="34" charset="-120"/>
              </a:rPr>
              <a:t>There is no submitted page text to search. The grounding check has nothing to check against.</a:t>
            </a:r>
            <a:endParaRPr lang="en-US" sz="1300" dirty="0"/>
          </a:p>
        </p:txBody>
      </p:sp>
      <p:sp>
        <p:nvSpPr>
          <p:cNvPr id="11" name="Shape 9"/>
          <p:cNvSpPr/>
          <p:nvPr/>
        </p:nvSpPr>
        <p:spPr>
          <a:xfrm>
            <a:off x="8010144" y="2560320"/>
            <a:ext cx="3502152" cy="2148840"/>
          </a:xfrm>
          <a:prstGeom prst="roundRect">
            <a:avLst>
              <a:gd name="adj" fmla="val 5106"/>
            </a:avLst>
          </a:prstGeom>
          <a:solidFill>
            <a:srgbClr val="F7E9E7"/>
          </a:solidFill>
          <a:ln w="17780">
            <a:solidFill>
              <a:srgbClr val="9B3B32"/>
            </a:solidFill>
            <a:prstDash val="solid"/>
          </a:ln>
        </p:spPr>
      </p:sp>
      <p:sp>
        <p:nvSpPr>
          <p:cNvPr id="12" name="Text 10"/>
          <p:cNvSpPr/>
          <p:nvPr/>
        </p:nvSpPr>
        <p:spPr>
          <a:xfrm>
            <a:off x="8284464" y="2834640"/>
            <a:ext cx="2953512" cy="640080"/>
          </a:xfrm>
          <a:prstGeom prst="rect">
            <a:avLst/>
          </a:prstGeom>
          <a:noFill/>
          <a:ln/>
        </p:spPr>
        <p:txBody>
          <a:bodyPr wrap="square" lIns="0" tIns="0" rIns="0" bIns="0" rtlCol="0" anchor="ctr"/>
          <a:lstStyle/>
          <a:p>
            <a:pPr marL="0" indent="0">
              <a:buNone/>
            </a:pPr>
            <a:r>
              <a:rPr lang="en-US" sz="1750" b="1" dirty="0">
                <a:solidFill>
                  <a:srgbClr val="9B3B32"/>
                </a:solidFill>
                <a:latin typeface="Cambria" pitchFamily="34" charset="0"/>
                <a:ea typeface="Cambria" pitchFamily="34" charset="-122"/>
                <a:cs typeface="Cambria" pitchFamily="34" charset="-120"/>
              </a:rPr>
              <a:t>So they are force-flagged</a:t>
            </a:r>
            <a:endParaRPr lang="en-US" sz="1750" dirty="0"/>
          </a:p>
        </p:txBody>
      </p:sp>
      <p:sp>
        <p:nvSpPr>
          <p:cNvPr id="13" name="Text 11"/>
          <p:cNvSpPr/>
          <p:nvPr/>
        </p:nvSpPr>
        <p:spPr>
          <a:xfrm>
            <a:off x="8284464" y="3566160"/>
            <a:ext cx="2953512" cy="1005840"/>
          </a:xfrm>
          <a:prstGeom prst="rect">
            <a:avLst/>
          </a:prstGeom>
          <a:noFill/>
          <a:ln/>
        </p:spPr>
        <p:txBody>
          <a:bodyPr wrap="square" lIns="0" tIns="0" rIns="0" bIns="0" rtlCol="0" anchor="ctr"/>
          <a:lstStyle/>
          <a:p>
            <a:pPr marL="0" indent="0">
              <a:buNone/>
            </a:pPr>
            <a:r>
              <a:rPr lang="en-US" sz="1300" dirty="0">
                <a:solidFill>
                  <a:srgbClr val="3F4A44"/>
                </a:solidFill>
                <a:latin typeface="Calibri" pitchFamily="34" charset="0"/>
                <a:ea typeface="Calibri" pitchFamily="34" charset="-122"/>
                <a:cs typeface="Calibri" pitchFamily="34" charset="-120"/>
              </a:rPr>
              <a:t>Image-derived items are marked NEEDS REVIEW and can never be bulk-confirmed. Every one is read individually.</a:t>
            </a:r>
            <a:endParaRPr lang="en-US" sz="1300" dirty="0"/>
          </a:p>
        </p:txBody>
      </p:sp>
      <p:sp>
        <p:nvSpPr>
          <p:cNvPr id="14" name="Shape 12"/>
          <p:cNvSpPr/>
          <p:nvPr/>
        </p:nvSpPr>
        <p:spPr>
          <a:xfrm>
            <a:off x="640080" y="4983480"/>
            <a:ext cx="10881360" cy="868680"/>
          </a:xfrm>
          <a:prstGeom prst="roundRect">
            <a:avLst>
              <a:gd name="adj" fmla="val 12632"/>
            </a:avLst>
          </a:prstGeom>
          <a:solidFill>
            <a:srgbClr val="1B2B26"/>
          </a:solidFill>
          <a:ln w="12700">
            <a:solidFill>
              <a:srgbClr val="1B2B26"/>
            </a:solidFill>
            <a:prstDash val="solid"/>
          </a:ln>
        </p:spPr>
      </p:sp>
      <p:sp>
        <p:nvSpPr>
          <p:cNvPr id="15" name="Text 13"/>
          <p:cNvSpPr/>
          <p:nvPr/>
        </p:nvSpPr>
        <p:spPr>
          <a:xfrm>
            <a:off x="1051560" y="5230368"/>
            <a:ext cx="10332720" cy="41148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Validated against a handwritten note: the system extracted the content while correctly refusing to claim confidence in it.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B26"/>
        </a:solidFill>
        <a:effectLst/>
      </p:bgPr>
    </p:bg>
    <p:spTree>
      <p:nvGrpSpPr>
        <p:cNvPr id="1" name=""/>
        <p:cNvGrpSpPr/>
        <p:nvPr/>
      </p:nvGrpSpPr>
      <p:grpSpPr>
        <a:xfrm>
          <a:off x="0" y="0"/>
          <a:ext cx="0" cy="0"/>
          <a:chOff x="0" y="0"/>
          <a:chExt cx="0" cy="0"/>
        </a:xfrm>
      </p:grpSpPr>
      <p:sp>
        <p:nvSpPr>
          <p:cNvPr id="2" name="Shape 0"/>
          <p:cNvSpPr/>
          <p:nvPr/>
        </p:nvSpPr>
        <p:spPr>
          <a:xfrm>
            <a:off x="640080" y="1234440"/>
            <a:ext cx="2286000" cy="457200"/>
          </a:xfrm>
          <a:prstGeom prst="roundRect">
            <a:avLst>
              <a:gd name="adj" fmla="val 20000"/>
            </a:avLst>
          </a:prstGeom>
          <a:solidFill>
            <a:srgbClr val="4E7C63"/>
          </a:solidFill>
          <a:ln w="12700">
            <a:solidFill>
              <a:srgbClr val="4E7C63"/>
            </a:solidFill>
            <a:prstDash val="solid"/>
          </a:ln>
        </p:spPr>
      </p:sp>
      <p:sp>
        <p:nvSpPr>
          <p:cNvPr id="3" name="Text 1"/>
          <p:cNvSpPr/>
          <p:nvPr/>
        </p:nvSpPr>
        <p:spPr>
          <a:xfrm>
            <a:off x="640080" y="1234440"/>
            <a:ext cx="2286000" cy="457200"/>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640080" y="1920240"/>
            <a:ext cx="1088136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Watch for four things</a:t>
            </a:r>
            <a:endParaRPr lang="en-US" sz="4000" dirty="0"/>
          </a:p>
        </p:txBody>
      </p:sp>
      <p:sp>
        <p:nvSpPr>
          <p:cNvPr id="5" name="Shape 3"/>
          <p:cNvSpPr/>
          <p:nvPr/>
        </p:nvSpPr>
        <p:spPr>
          <a:xfrm>
            <a:off x="640080" y="2898648"/>
            <a:ext cx="384048" cy="384048"/>
          </a:xfrm>
          <a:prstGeom prst="ellipse">
            <a:avLst/>
          </a:prstGeom>
          <a:solidFill>
            <a:srgbClr val="3A5548"/>
          </a:solidFill>
          <a:ln w="19050">
            <a:solidFill>
              <a:srgbClr val="8FBFA3"/>
            </a:solidFill>
            <a:prstDash val="solid"/>
          </a:ln>
        </p:spPr>
      </p:sp>
      <p:sp>
        <p:nvSpPr>
          <p:cNvPr id="6" name="Text 4"/>
          <p:cNvSpPr/>
          <p:nvPr/>
        </p:nvSpPr>
        <p:spPr>
          <a:xfrm>
            <a:off x="640080" y="2898648"/>
            <a:ext cx="384048" cy="384048"/>
          </a:xfrm>
          <a:prstGeom prst="rect">
            <a:avLst/>
          </a:prstGeom>
          <a:noFill/>
          <a:ln/>
        </p:spPr>
        <p:txBody>
          <a:bodyPr wrap="square" lIns="0" tIns="0" rIns="0" bIns="0" rtlCol="0" anchor="ctr"/>
          <a:lstStyle/>
          <a:p>
            <a:pPr marL="0" indent="0" algn="ctr">
              <a:buNone/>
            </a:pPr>
            <a:r>
              <a:rPr lang="en-US" sz="1400" b="1" dirty="0">
                <a:solidFill>
                  <a:srgbClr val="C4DCCE"/>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2880360"/>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citation on every card</a:t>
            </a:r>
            <a:endParaRPr lang="en-US" sz="1600" dirty="0"/>
          </a:p>
        </p:txBody>
      </p:sp>
      <p:sp>
        <p:nvSpPr>
          <p:cNvPr id="8" name="Text 6"/>
          <p:cNvSpPr/>
          <p:nvPr/>
        </p:nvSpPr>
        <p:spPr>
          <a:xfrm>
            <a:off x="5943600" y="2907792"/>
            <a:ext cx="5577840" cy="365760"/>
          </a:xfrm>
          <a:prstGeom prst="rect">
            <a:avLst/>
          </a:prstGeom>
          <a:noFill/>
          <a:ln/>
        </p:spPr>
        <p:txBody>
          <a:bodyPr wrap="square" lIns="0" tIns="0" rIns="0" bIns="0" rtlCol="0" anchor="ctr"/>
          <a:lstStyle/>
          <a:p>
            <a:pPr marL="0" indent="0">
              <a:buNone/>
            </a:pPr>
            <a:r>
              <a:rPr lang="en-US" sz="1350" dirty="0">
                <a:solidFill>
                  <a:srgbClr val="8FAE9D"/>
                </a:solidFill>
                <a:latin typeface="Calibri" pitchFamily="34" charset="0"/>
                <a:ea typeface="Calibri" pitchFamily="34" charset="-122"/>
                <a:cs typeface="Calibri" pitchFamily="34" charset="-120"/>
              </a:rPr>
              <a:t>Page number and source quote, on each extracted item.</a:t>
            </a:r>
            <a:endParaRPr lang="en-US" sz="1350" dirty="0"/>
          </a:p>
        </p:txBody>
      </p:sp>
      <p:sp>
        <p:nvSpPr>
          <p:cNvPr id="9" name="Shape 7"/>
          <p:cNvSpPr/>
          <p:nvPr/>
        </p:nvSpPr>
        <p:spPr>
          <a:xfrm>
            <a:off x="640080" y="3611880"/>
            <a:ext cx="384048" cy="384048"/>
          </a:xfrm>
          <a:prstGeom prst="ellipse">
            <a:avLst/>
          </a:prstGeom>
          <a:solidFill>
            <a:srgbClr val="3A5548"/>
          </a:solidFill>
          <a:ln w="19050">
            <a:solidFill>
              <a:srgbClr val="8FBFA3"/>
            </a:solidFill>
            <a:prstDash val="solid"/>
          </a:ln>
        </p:spPr>
      </p:sp>
      <p:sp>
        <p:nvSpPr>
          <p:cNvPr id="10" name="Text 8"/>
          <p:cNvSpPr/>
          <p:nvPr/>
        </p:nvSpPr>
        <p:spPr>
          <a:xfrm>
            <a:off x="640080" y="3611880"/>
            <a:ext cx="384048" cy="384048"/>
          </a:xfrm>
          <a:prstGeom prst="rect">
            <a:avLst/>
          </a:prstGeom>
          <a:noFill/>
          <a:ln/>
        </p:spPr>
        <p:txBody>
          <a:bodyPr wrap="square" lIns="0" tIns="0" rIns="0" bIns="0" rtlCol="0" anchor="ctr"/>
          <a:lstStyle/>
          <a:p>
            <a:pPr marL="0" indent="0" algn="ctr">
              <a:buNone/>
            </a:pPr>
            <a:r>
              <a:rPr lang="en-US" sz="1400" b="1" dirty="0">
                <a:solidFill>
                  <a:srgbClr val="C4DCCE"/>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34440" y="3593592"/>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amber NEEDS REVIEW flag</a:t>
            </a:r>
            <a:endParaRPr lang="en-US" sz="1600" dirty="0"/>
          </a:p>
        </p:txBody>
      </p:sp>
      <p:sp>
        <p:nvSpPr>
          <p:cNvPr id="12" name="Text 10"/>
          <p:cNvSpPr/>
          <p:nvPr/>
        </p:nvSpPr>
        <p:spPr>
          <a:xfrm>
            <a:off x="5943600" y="3621024"/>
            <a:ext cx="5577840" cy="365760"/>
          </a:xfrm>
          <a:prstGeom prst="rect">
            <a:avLst/>
          </a:prstGeom>
          <a:noFill/>
          <a:ln/>
        </p:spPr>
        <p:txBody>
          <a:bodyPr wrap="square" lIns="0" tIns="0" rIns="0" bIns="0" rtlCol="0" anchor="ctr"/>
          <a:lstStyle/>
          <a:p>
            <a:pPr marL="0" indent="0">
              <a:buNone/>
            </a:pPr>
            <a:r>
              <a:rPr lang="en-US" sz="1350" dirty="0">
                <a:solidFill>
                  <a:srgbClr val="8FAE9D"/>
                </a:solidFill>
                <a:latin typeface="Calibri" pitchFamily="34" charset="0"/>
                <a:ea typeface="Calibri" pitchFamily="34" charset="-122"/>
                <a:cs typeface="Calibri" pitchFamily="34" charset="-120"/>
              </a:rPr>
              <a:t>Low-confidence and image-derived items, visually separated.</a:t>
            </a:r>
            <a:endParaRPr lang="en-US" sz="1350" dirty="0"/>
          </a:p>
        </p:txBody>
      </p:sp>
      <p:sp>
        <p:nvSpPr>
          <p:cNvPr id="13" name="Shape 11"/>
          <p:cNvSpPr/>
          <p:nvPr/>
        </p:nvSpPr>
        <p:spPr>
          <a:xfrm>
            <a:off x="640080" y="4325112"/>
            <a:ext cx="384048" cy="384048"/>
          </a:xfrm>
          <a:prstGeom prst="ellipse">
            <a:avLst/>
          </a:prstGeom>
          <a:solidFill>
            <a:srgbClr val="3A5548"/>
          </a:solidFill>
          <a:ln w="19050">
            <a:solidFill>
              <a:srgbClr val="8FBFA3"/>
            </a:solidFill>
            <a:prstDash val="solid"/>
          </a:ln>
        </p:spPr>
      </p:sp>
      <p:sp>
        <p:nvSpPr>
          <p:cNvPr id="14" name="Text 12"/>
          <p:cNvSpPr/>
          <p:nvPr/>
        </p:nvSpPr>
        <p:spPr>
          <a:xfrm>
            <a:off x="640080" y="4325112"/>
            <a:ext cx="384048" cy="384048"/>
          </a:xfrm>
          <a:prstGeom prst="rect">
            <a:avLst/>
          </a:prstGeom>
          <a:noFill/>
          <a:ln/>
        </p:spPr>
        <p:txBody>
          <a:bodyPr wrap="square" lIns="0" tIns="0" rIns="0" bIns="0" rtlCol="0" anchor="ctr"/>
          <a:lstStyle/>
          <a:p>
            <a:pPr marL="0" indent="0" algn="ctr">
              <a:buNone/>
            </a:pPr>
            <a:r>
              <a:rPr lang="en-US" sz="1400" b="1" dirty="0">
                <a:solidFill>
                  <a:srgbClr val="C4DCCE"/>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34440" y="4306824"/>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confirm click</a:t>
            </a:r>
            <a:endParaRPr lang="en-US" sz="1600" dirty="0"/>
          </a:p>
        </p:txBody>
      </p:sp>
      <p:sp>
        <p:nvSpPr>
          <p:cNvPr id="16" name="Text 14"/>
          <p:cNvSpPr/>
          <p:nvPr/>
        </p:nvSpPr>
        <p:spPr>
          <a:xfrm>
            <a:off x="5943600" y="4334256"/>
            <a:ext cx="5577840" cy="365760"/>
          </a:xfrm>
          <a:prstGeom prst="rect">
            <a:avLst/>
          </a:prstGeom>
          <a:noFill/>
          <a:ln/>
        </p:spPr>
        <p:txBody>
          <a:bodyPr wrap="square" lIns="0" tIns="0" rIns="0" bIns="0" rtlCol="0" anchor="ctr"/>
          <a:lstStyle/>
          <a:p>
            <a:pPr marL="0" indent="0">
              <a:buNone/>
            </a:pPr>
            <a:r>
              <a:rPr lang="en-US" sz="1350" dirty="0">
                <a:solidFill>
                  <a:srgbClr val="8FAE9D"/>
                </a:solidFill>
                <a:latin typeface="Calibri" pitchFamily="34" charset="0"/>
                <a:ea typeface="Calibri" pitchFamily="34" charset="-122"/>
                <a:cs typeface="Calibri" pitchFamily="34" charset="-120"/>
              </a:rPr>
              <a:t>The moment an item crosses from AI output into the care plan.</a:t>
            </a:r>
            <a:endParaRPr lang="en-US" sz="1350" dirty="0"/>
          </a:p>
        </p:txBody>
      </p:sp>
      <p:sp>
        <p:nvSpPr>
          <p:cNvPr id="17" name="Shape 15"/>
          <p:cNvSpPr/>
          <p:nvPr/>
        </p:nvSpPr>
        <p:spPr>
          <a:xfrm>
            <a:off x="640080" y="5038344"/>
            <a:ext cx="384048" cy="384048"/>
          </a:xfrm>
          <a:prstGeom prst="ellipse">
            <a:avLst/>
          </a:prstGeom>
          <a:solidFill>
            <a:srgbClr val="3A5548"/>
          </a:solidFill>
          <a:ln w="19050">
            <a:solidFill>
              <a:srgbClr val="8FBFA3"/>
            </a:solidFill>
            <a:prstDash val="solid"/>
          </a:ln>
        </p:spPr>
      </p:sp>
      <p:sp>
        <p:nvSpPr>
          <p:cNvPr id="18" name="Text 16"/>
          <p:cNvSpPr/>
          <p:nvPr/>
        </p:nvSpPr>
        <p:spPr>
          <a:xfrm>
            <a:off x="640080" y="5038344"/>
            <a:ext cx="384048" cy="384048"/>
          </a:xfrm>
          <a:prstGeom prst="rect">
            <a:avLst/>
          </a:prstGeom>
          <a:noFill/>
          <a:ln/>
        </p:spPr>
        <p:txBody>
          <a:bodyPr wrap="square" lIns="0" tIns="0" rIns="0" bIns="0" rtlCol="0" anchor="ctr"/>
          <a:lstStyle/>
          <a:p>
            <a:pPr marL="0" indent="0" algn="ctr">
              <a:buNone/>
            </a:pPr>
            <a:r>
              <a:rPr lang="en-US" sz="1400" b="1" dirty="0">
                <a:solidFill>
                  <a:srgbClr val="C4DCCE"/>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234440" y="5020056"/>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fridge sheet</a:t>
            </a:r>
            <a:endParaRPr lang="en-US" sz="1600" dirty="0"/>
          </a:p>
        </p:txBody>
      </p:sp>
      <p:sp>
        <p:nvSpPr>
          <p:cNvPr id="20" name="Text 18"/>
          <p:cNvSpPr/>
          <p:nvPr/>
        </p:nvSpPr>
        <p:spPr>
          <a:xfrm>
            <a:off x="5943600" y="5047488"/>
            <a:ext cx="5577840" cy="365760"/>
          </a:xfrm>
          <a:prstGeom prst="rect">
            <a:avLst/>
          </a:prstGeom>
          <a:noFill/>
          <a:ln/>
        </p:spPr>
        <p:txBody>
          <a:bodyPr wrap="square" lIns="0" tIns="0" rIns="0" bIns="0" rtlCol="0" anchor="ctr"/>
          <a:lstStyle/>
          <a:p>
            <a:pPr marL="0" indent="0">
              <a:buNone/>
            </a:pPr>
            <a:r>
              <a:rPr lang="en-US" sz="1350" dirty="0">
                <a:solidFill>
                  <a:srgbClr val="8FAE9D"/>
                </a:solidFill>
                <a:latin typeface="Calibri" pitchFamily="34" charset="0"/>
                <a:ea typeface="Calibri" pitchFamily="34" charset="-122"/>
                <a:cs typeface="Calibri" pitchFamily="34" charset="-120"/>
              </a:rPr>
              <a:t>One printed page that ends up taped to a refrigerator door.</a:t>
            </a:r>
            <a:endParaRPr lang="en-US" sz="1350" dirty="0"/>
          </a:p>
        </p:txBody>
      </p:sp>
      <p:sp>
        <p:nvSpPr>
          <p:cNvPr id="21" name="Text 19"/>
          <p:cNvSpPr/>
          <p:nvPr/>
        </p:nvSpPr>
        <p:spPr>
          <a:xfrm>
            <a:off x="640080" y="5989320"/>
            <a:ext cx="10881360" cy="365760"/>
          </a:xfrm>
          <a:prstGeom prst="rect">
            <a:avLst/>
          </a:prstGeom>
          <a:noFill/>
          <a:ln/>
        </p:spPr>
        <p:txBody>
          <a:bodyPr wrap="square" lIns="0" tIns="0" rIns="0" bIns="0" rtlCol="0" anchor="ctr"/>
          <a:lstStyle/>
          <a:p>
            <a:pPr marL="0" indent="0">
              <a:buNone/>
            </a:pPr>
            <a:r>
              <a:rPr lang="en-US" sz="1250" dirty="0">
                <a:solidFill>
                  <a:srgbClr val="6E8C7C"/>
                </a:solidFill>
                <a:latin typeface="Courier New" pitchFamily="34" charset="0"/>
                <a:ea typeface="Courier New" pitchFamily="34" charset="-122"/>
                <a:cs typeface="Courier New" pitchFamily="34" charset="-120"/>
              </a:rPr>
              <a:t>homecoming-care.netlify.app  ·  synthetic discharge data only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4E7C63"/>
                </a:solidFill>
                <a:latin typeface="Calibri" pitchFamily="34" charset="0"/>
                <a:ea typeface="Calibri" pitchFamily="34" charset="-122"/>
                <a:cs typeface="Calibri" pitchFamily="34" charset="-120"/>
              </a:rPr>
              <a:t>ARCHITECTURE</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Every secret and every check lives server-side</a:t>
            </a:r>
            <a:endParaRPr lang="en-US" sz="3800" dirty="0"/>
          </a:p>
        </p:txBody>
      </p:sp>
      <p:sp>
        <p:nvSpPr>
          <p:cNvPr id="4" name="Shape 2"/>
          <p:cNvSpPr/>
          <p:nvPr/>
        </p:nvSpPr>
        <p:spPr>
          <a:xfrm>
            <a:off x="640080" y="1783080"/>
            <a:ext cx="2788920" cy="2743200"/>
          </a:xfrm>
          <a:prstGeom prst="roundRect">
            <a:avLst>
              <a:gd name="adj" fmla="val 4000"/>
            </a:avLst>
          </a:prstGeom>
          <a:solidFill>
            <a:srgbClr val="F6F8F7"/>
          </a:solidFill>
          <a:ln w="12700">
            <a:solidFill>
              <a:srgbClr val="D8E0DB"/>
            </a:solidFill>
            <a:prstDash val="solid"/>
          </a:ln>
        </p:spPr>
      </p:sp>
      <p:sp>
        <p:nvSpPr>
          <p:cNvPr id="5" name="Text 3"/>
          <p:cNvSpPr/>
          <p:nvPr/>
        </p:nvSpPr>
        <p:spPr>
          <a:xfrm>
            <a:off x="868680" y="1965960"/>
            <a:ext cx="2331720" cy="274320"/>
          </a:xfrm>
          <a:prstGeom prst="rect">
            <a:avLst/>
          </a:prstGeom>
          <a:noFill/>
          <a:ln/>
        </p:spPr>
        <p:txBody>
          <a:bodyPr wrap="square" lIns="0" tIns="0" rIns="0" bIns="0" rtlCol="0" anchor="ctr"/>
          <a:lstStyle/>
          <a:p>
            <a:pPr marL="0" indent="0">
              <a:buNone/>
            </a:pPr>
            <a:r>
              <a:rPr lang="en-US" sz="1100" b="1" kern="0" spc="150" dirty="0">
                <a:solidFill>
                  <a:srgbClr val="6E7B74"/>
                </a:solidFill>
                <a:latin typeface="Calibri" pitchFamily="34" charset="0"/>
                <a:ea typeface="Calibri" pitchFamily="34" charset="-122"/>
                <a:cs typeface="Calibri" pitchFamily="34" charset="-120"/>
              </a:rPr>
              <a:t>CLIENT</a:t>
            </a:r>
            <a:endParaRPr lang="en-US" sz="1100" dirty="0"/>
          </a:p>
        </p:txBody>
      </p:sp>
      <p:sp>
        <p:nvSpPr>
          <p:cNvPr id="6" name="Text 4"/>
          <p:cNvSpPr/>
          <p:nvPr/>
        </p:nvSpPr>
        <p:spPr>
          <a:xfrm>
            <a:off x="868680" y="2377440"/>
            <a:ext cx="2331720" cy="20116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React 18 + Vite</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Tailwind CSS</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pdfjs-dist page extraction</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Anon key only</a:t>
            </a:r>
            <a:endParaRPr lang="en-US" sz="1250" dirty="0"/>
          </a:p>
        </p:txBody>
      </p:sp>
      <p:sp>
        <p:nvSpPr>
          <p:cNvPr id="7" name="Shape 5"/>
          <p:cNvSpPr/>
          <p:nvPr/>
        </p:nvSpPr>
        <p:spPr>
          <a:xfrm>
            <a:off x="3703320" y="1783080"/>
            <a:ext cx="4160520" cy="2743200"/>
          </a:xfrm>
          <a:prstGeom prst="roundRect">
            <a:avLst>
              <a:gd name="adj" fmla="val 4000"/>
            </a:avLst>
          </a:prstGeom>
          <a:solidFill>
            <a:srgbClr val="F6F8F7"/>
          </a:solidFill>
          <a:ln w="12700">
            <a:solidFill>
              <a:srgbClr val="D8E0DB"/>
            </a:solidFill>
            <a:prstDash val="solid"/>
          </a:ln>
        </p:spPr>
      </p:sp>
      <p:sp>
        <p:nvSpPr>
          <p:cNvPr id="8" name="Text 6"/>
          <p:cNvSpPr/>
          <p:nvPr/>
        </p:nvSpPr>
        <p:spPr>
          <a:xfrm>
            <a:off x="3931920" y="1965960"/>
            <a:ext cx="3703320" cy="274320"/>
          </a:xfrm>
          <a:prstGeom prst="rect">
            <a:avLst/>
          </a:prstGeom>
          <a:noFill/>
          <a:ln/>
        </p:spPr>
        <p:txBody>
          <a:bodyPr wrap="square" lIns="0" tIns="0" rIns="0" bIns="0" rtlCol="0" anchor="ctr"/>
          <a:lstStyle/>
          <a:p>
            <a:pPr marL="0" indent="0">
              <a:buNone/>
            </a:pPr>
            <a:r>
              <a:rPr lang="en-US" sz="1100" b="1" kern="0" spc="150" dirty="0">
                <a:solidFill>
                  <a:srgbClr val="4E7C63"/>
                </a:solidFill>
                <a:latin typeface="Calibri" pitchFamily="34" charset="0"/>
                <a:ea typeface="Calibri" pitchFamily="34" charset="-122"/>
                <a:cs typeface="Calibri" pitchFamily="34" charset="-120"/>
              </a:rPr>
              <a:t>SERVERLESS  ·  Netlify Functions</a:t>
            </a:r>
            <a:endParaRPr lang="en-US" sz="1100" dirty="0"/>
          </a:p>
        </p:txBody>
      </p:sp>
      <p:sp>
        <p:nvSpPr>
          <p:cNvPr id="9" name="Text 7"/>
          <p:cNvSpPr/>
          <p:nvPr/>
        </p:nvSpPr>
        <p:spPr>
          <a:xfrm>
            <a:off x="3931920" y="2377440"/>
            <a:ext cx="3703320" cy="20116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extract.mjs — grounding gate</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guidance.mjs — RAG retrieval</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ask.mjs — plan-scoped Q&amp;A</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share.mjs — revocable link</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send-reminders.mjs — scheduled</a:t>
            </a:r>
            <a:endParaRPr lang="en-US" sz="1250" dirty="0"/>
          </a:p>
        </p:txBody>
      </p:sp>
      <p:sp>
        <p:nvSpPr>
          <p:cNvPr id="10" name="Shape 8"/>
          <p:cNvSpPr/>
          <p:nvPr/>
        </p:nvSpPr>
        <p:spPr>
          <a:xfrm>
            <a:off x="8778240" y="1783080"/>
            <a:ext cx="2743200" cy="2743200"/>
          </a:xfrm>
          <a:prstGeom prst="roundRect">
            <a:avLst>
              <a:gd name="adj" fmla="val 4000"/>
            </a:avLst>
          </a:prstGeom>
          <a:solidFill>
            <a:srgbClr val="F6F8F7"/>
          </a:solidFill>
          <a:ln w="12700">
            <a:solidFill>
              <a:srgbClr val="D8E0DB"/>
            </a:solidFill>
            <a:prstDash val="solid"/>
          </a:ln>
        </p:spPr>
      </p:sp>
      <p:sp>
        <p:nvSpPr>
          <p:cNvPr id="11" name="Text 9"/>
          <p:cNvSpPr/>
          <p:nvPr/>
        </p:nvSpPr>
        <p:spPr>
          <a:xfrm>
            <a:off x="9006840" y="1965960"/>
            <a:ext cx="2286000" cy="274320"/>
          </a:xfrm>
          <a:prstGeom prst="rect">
            <a:avLst/>
          </a:prstGeom>
          <a:noFill/>
          <a:ln/>
        </p:spPr>
        <p:txBody>
          <a:bodyPr wrap="square" lIns="0" tIns="0" rIns="0" bIns="0" rtlCol="0" anchor="ctr"/>
          <a:lstStyle/>
          <a:p>
            <a:pPr marL="0" indent="0">
              <a:buNone/>
            </a:pPr>
            <a:r>
              <a:rPr lang="en-US" sz="1100" b="1" kern="0" spc="150" dirty="0">
                <a:solidFill>
                  <a:srgbClr val="4E7C63"/>
                </a:solidFill>
                <a:latin typeface="Calibri" pitchFamily="34" charset="0"/>
                <a:ea typeface="Calibri" pitchFamily="34" charset="-122"/>
                <a:cs typeface="Calibri" pitchFamily="34" charset="-120"/>
              </a:rPr>
              <a:t>DATA  ·  Supabase</a:t>
            </a:r>
            <a:endParaRPr lang="en-US" sz="1100" dirty="0"/>
          </a:p>
        </p:txBody>
      </p:sp>
      <p:sp>
        <p:nvSpPr>
          <p:cNvPr id="12" name="Text 10"/>
          <p:cNvSpPr/>
          <p:nvPr/>
        </p:nvSpPr>
        <p:spPr>
          <a:xfrm>
            <a:off x="9006840" y="2377440"/>
            <a:ext cx="2286000" cy="20116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Postgres + RLS on every table</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Auth</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Private storage bucket</a:t>
            </a:r>
            <a:endParaRPr lang="en-US" sz="1250" dirty="0"/>
          </a:p>
          <a:p>
            <a:pPr marL="342900" indent="-342900">
              <a:spcAft>
                <a:spcPts val="700"/>
              </a:spcAft>
              <a:buSzPct val="100000"/>
              <a:buChar char="•"/>
            </a:pPr>
            <a:r>
              <a:rPr lang="en-US" sz="1250" dirty="0">
                <a:solidFill>
                  <a:srgbClr val="3F4A44"/>
                </a:solidFill>
                <a:latin typeface="Calibri" pitchFamily="34" charset="0"/>
                <a:ea typeface="Calibri" pitchFamily="34" charset="-122"/>
                <a:cs typeface="Calibri" pitchFamily="34" charset="-120"/>
              </a:rPr>
              <a:t>pgvector for guidance</a:t>
            </a:r>
            <a:endParaRPr lang="en-US" sz="1250" dirty="0"/>
          </a:p>
        </p:txBody>
      </p:sp>
      <p:sp>
        <p:nvSpPr>
          <p:cNvPr id="13" name="Text 11"/>
          <p:cNvSpPr/>
          <p:nvPr/>
        </p:nvSpPr>
        <p:spPr>
          <a:xfrm>
            <a:off x="2880360" y="2926080"/>
            <a:ext cx="777240" cy="457200"/>
          </a:xfrm>
          <a:prstGeom prst="rect">
            <a:avLst/>
          </a:prstGeom>
          <a:noFill/>
          <a:ln/>
        </p:spPr>
        <p:txBody>
          <a:bodyPr wrap="square" lIns="0" tIns="0" rIns="0" bIns="0" rtlCol="0" anchor="ctr"/>
          <a:lstStyle/>
          <a:p>
            <a:pPr marL="0" indent="0" algn="ctr">
              <a:buNone/>
            </a:pPr>
            <a:r>
              <a:rPr lang="en-US" sz="2200" dirty="0">
                <a:solidFill>
                  <a:srgbClr val="6E7B74"/>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7909560" y="2926080"/>
            <a:ext cx="822960" cy="457200"/>
          </a:xfrm>
          <a:prstGeom prst="rect">
            <a:avLst/>
          </a:prstGeom>
          <a:noFill/>
          <a:ln/>
        </p:spPr>
        <p:txBody>
          <a:bodyPr wrap="square" lIns="0" tIns="0" rIns="0" bIns="0" rtlCol="0" anchor="ctr"/>
          <a:lstStyle/>
          <a:p>
            <a:pPr marL="0" indent="0" algn="ctr">
              <a:buNone/>
            </a:pPr>
            <a:r>
              <a:rPr lang="en-US" sz="2200" dirty="0">
                <a:solidFill>
                  <a:srgbClr val="6E7B74"/>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40080" y="4754880"/>
            <a:ext cx="5440680" cy="1097280"/>
          </a:xfrm>
          <a:prstGeom prst="roundRect">
            <a:avLst>
              <a:gd name="adj" fmla="val 10000"/>
            </a:avLst>
          </a:prstGeom>
          <a:solidFill>
            <a:srgbClr val="E8F0EA"/>
          </a:solidFill>
          <a:ln w="15875">
            <a:solidFill>
              <a:srgbClr val="4E7C63"/>
            </a:solidFill>
            <a:prstDash val="solid"/>
          </a:ln>
        </p:spPr>
      </p:sp>
      <p:sp>
        <p:nvSpPr>
          <p:cNvPr id="16" name="Text 14"/>
          <p:cNvSpPr/>
          <p:nvPr/>
        </p:nvSpPr>
        <p:spPr>
          <a:xfrm>
            <a:off x="960120" y="4937760"/>
            <a:ext cx="4800600" cy="320040"/>
          </a:xfrm>
          <a:prstGeom prst="rect">
            <a:avLst/>
          </a:prstGeom>
          <a:noFill/>
          <a:ln/>
        </p:spPr>
        <p:txBody>
          <a:bodyPr wrap="square" lIns="0" tIns="0" rIns="0" bIns="0" rtlCol="0" anchor="ctr"/>
          <a:lstStyle/>
          <a:p>
            <a:pPr marL="0" indent="0">
              <a:buNone/>
            </a:pPr>
            <a:r>
              <a:rPr lang="en-US" sz="1550" b="1" dirty="0">
                <a:solidFill>
                  <a:srgbClr val="4E7C63"/>
                </a:solidFill>
                <a:latin typeface="Cambria" pitchFamily="34" charset="0"/>
                <a:ea typeface="Cambria" pitchFamily="34" charset="-122"/>
                <a:cs typeface="Cambria" pitchFamily="34" charset="-120"/>
              </a:rPr>
              <a:t>The Anthropic key never reaches the browser</a:t>
            </a:r>
            <a:endParaRPr lang="en-US" sz="1550" dirty="0"/>
          </a:p>
        </p:txBody>
      </p:sp>
      <p:sp>
        <p:nvSpPr>
          <p:cNvPr id="17" name="Text 15"/>
          <p:cNvSpPr/>
          <p:nvPr/>
        </p:nvSpPr>
        <p:spPr>
          <a:xfrm>
            <a:off x="960120" y="5285232"/>
            <a:ext cx="4800600" cy="457200"/>
          </a:xfrm>
          <a:prstGeom prst="rect">
            <a:avLst/>
          </a:prstGeom>
          <a:noFill/>
          <a:ln/>
        </p:spPr>
        <p:txBody>
          <a:bodyPr wrap="square" lIns="0" tIns="0" rIns="0" bIns="0" rtlCol="0" anchor="ctr"/>
          <a:lstStyle/>
          <a:p>
            <a:pPr marL="0" indent="0">
              <a:buNone/>
            </a:pPr>
            <a:r>
              <a:rPr lang="en-US" sz="1200" dirty="0">
                <a:solidFill>
                  <a:srgbClr val="3F4A44"/>
                </a:solidFill>
                <a:latin typeface="Calibri" pitchFamily="34" charset="0"/>
                <a:ea typeface="Calibri" pitchFamily="34" charset="-122"/>
                <a:cs typeface="Calibri" pitchFamily="34" charset="-120"/>
              </a:rPr>
              <a:t>Only VITE_-prefixed variables ship to the client. Model calls, service-role access, and email all run inside functions.</a:t>
            </a:r>
            <a:endParaRPr lang="en-US" sz="1200" dirty="0"/>
          </a:p>
        </p:txBody>
      </p:sp>
      <p:sp>
        <p:nvSpPr>
          <p:cNvPr id="18" name="Shape 16"/>
          <p:cNvSpPr/>
          <p:nvPr/>
        </p:nvSpPr>
        <p:spPr>
          <a:xfrm>
            <a:off x="6309360" y="4754880"/>
            <a:ext cx="5212080" cy="1097280"/>
          </a:xfrm>
          <a:prstGeom prst="roundRect">
            <a:avLst>
              <a:gd name="adj" fmla="val 10000"/>
            </a:avLst>
          </a:prstGeom>
          <a:solidFill>
            <a:srgbClr val="E8F0EA"/>
          </a:solidFill>
          <a:ln w="15875">
            <a:solidFill>
              <a:srgbClr val="4E7C63"/>
            </a:solidFill>
            <a:prstDash val="solid"/>
          </a:ln>
        </p:spPr>
      </p:sp>
      <p:sp>
        <p:nvSpPr>
          <p:cNvPr id="19" name="Text 17"/>
          <p:cNvSpPr/>
          <p:nvPr/>
        </p:nvSpPr>
        <p:spPr>
          <a:xfrm>
            <a:off x="6629400" y="4937760"/>
            <a:ext cx="4572000" cy="320040"/>
          </a:xfrm>
          <a:prstGeom prst="rect">
            <a:avLst/>
          </a:prstGeom>
          <a:noFill/>
          <a:ln/>
        </p:spPr>
        <p:txBody>
          <a:bodyPr wrap="square" lIns="0" tIns="0" rIns="0" bIns="0" rtlCol="0" anchor="ctr"/>
          <a:lstStyle/>
          <a:p>
            <a:pPr marL="0" indent="0">
              <a:buNone/>
            </a:pPr>
            <a:r>
              <a:rPr lang="en-US" sz="1550" b="1" dirty="0">
                <a:solidFill>
                  <a:srgbClr val="4E7C63"/>
                </a:solidFill>
                <a:latin typeface="Cambria" pitchFamily="34" charset="0"/>
                <a:ea typeface="Cambria" pitchFamily="34" charset="-122"/>
                <a:cs typeface="Cambria" pitchFamily="34" charset="-120"/>
              </a:rPr>
              <a:t>Authorization lives in the database</a:t>
            </a:r>
            <a:endParaRPr lang="en-US" sz="1550" dirty="0"/>
          </a:p>
        </p:txBody>
      </p:sp>
      <p:sp>
        <p:nvSpPr>
          <p:cNvPr id="20" name="Text 18"/>
          <p:cNvSpPr/>
          <p:nvPr/>
        </p:nvSpPr>
        <p:spPr>
          <a:xfrm>
            <a:off x="6629400" y="5285232"/>
            <a:ext cx="4572000" cy="457200"/>
          </a:xfrm>
          <a:prstGeom prst="rect">
            <a:avLst/>
          </a:prstGeom>
          <a:noFill/>
          <a:ln/>
        </p:spPr>
        <p:txBody>
          <a:bodyPr wrap="square" lIns="0" tIns="0" rIns="0" bIns="0" rtlCol="0" anchor="ctr"/>
          <a:lstStyle/>
          <a:p>
            <a:pPr marL="0" indent="0">
              <a:buNone/>
            </a:pPr>
            <a:r>
              <a:rPr lang="en-US" sz="1200" dirty="0">
                <a:solidFill>
                  <a:srgbClr val="3F4A44"/>
                </a:solidFill>
                <a:latin typeface="Calibri" pitchFamily="34" charset="0"/>
                <a:ea typeface="Calibri" pitchFamily="34" charset="-122"/>
                <a:cs typeface="Calibri" pitchFamily="34" charset="-120"/>
              </a:rPr>
              <a:t>Row Level Security keyed on care-circle membership not client-side route guards that a devtools console can walk around.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4E7C63"/>
                </a:solidFill>
                <a:latin typeface="Calibri" pitchFamily="34" charset="0"/>
                <a:ea typeface="Calibri" pitchFamily="34" charset="-122"/>
                <a:cs typeface="Calibri" pitchFamily="34" charset="-120"/>
              </a:rPr>
              <a:t>STATUS</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Built, deployed, and running today</a:t>
            </a:r>
            <a:endParaRPr lang="en-US" sz="3800" dirty="0"/>
          </a:p>
        </p:txBody>
      </p:sp>
      <p:sp>
        <p:nvSpPr>
          <p:cNvPr id="4" name="Shape 2"/>
          <p:cNvSpPr/>
          <p:nvPr/>
        </p:nvSpPr>
        <p:spPr>
          <a:xfrm>
            <a:off x="640080" y="1783080"/>
            <a:ext cx="3502152" cy="1691640"/>
          </a:xfrm>
          <a:prstGeom prst="roundRect">
            <a:avLst>
              <a:gd name="adj" fmla="val 6486"/>
            </a:avLst>
          </a:prstGeom>
          <a:solidFill>
            <a:srgbClr val="E8F0EA"/>
          </a:solidFill>
          <a:ln w="13970">
            <a:solidFill>
              <a:srgbClr val="4E7C63"/>
            </a:solidFill>
            <a:prstDash val="solid"/>
          </a:ln>
        </p:spPr>
      </p:sp>
      <p:sp>
        <p:nvSpPr>
          <p:cNvPr id="5" name="Text 3"/>
          <p:cNvSpPr/>
          <p:nvPr/>
        </p:nvSpPr>
        <p:spPr>
          <a:xfrm>
            <a:off x="896112" y="1984248"/>
            <a:ext cx="365760" cy="320040"/>
          </a:xfrm>
          <a:prstGeom prst="rect">
            <a:avLst/>
          </a:prstGeom>
          <a:noFill/>
          <a:ln/>
        </p:spPr>
        <p:txBody>
          <a:bodyPr wrap="square" lIns="0" tIns="0" rIns="0" bIns="0" rtlCol="0" anchor="ctr"/>
          <a:lstStyle/>
          <a:p>
            <a:pPr marL="0" indent="0">
              <a:buNone/>
            </a:pPr>
            <a:r>
              <a:rPr lang="en-US" sz="1700" b="1" dirty="0">
                <a:solidFill>
                  <a:srgbClr val="4E7C63"/>
                </a:solidFill>
                <a:latin typeface="Calibri" pitchFamily="34" charset="0"/>
                <a:ea typeface="Calibri" pitchFamily="34" charset="-122"/>
                <a:cs typeface="Calibri" pitchFamily="34" charset="-120"/>
              </a:rPr>
              <a:t>✓</a:t>
            </a:r>
            <a:endParaRPr lang="en-US" sz="1700" dirty="0"/>
          </a:p>
        </p:txBody>
      </p:sp>
      <p:sp>
        <p:nvSpPr>
          <p:cNvPr id="6" name="Text 4"/>
          <p:cNvSpPr/>
          <p:nvPr/>
        </p:nvSpPr>
        <p:spPr>
          <a:xfrm>
            <a:off x="1298448" y="1984248"/>
            <a:ext cx="2606040" cy="320040"/>
          </a:xfrm>
          <a:prstGeom prst="rect">
            <a:avLst/>
          </a:prstGeom>
          <a:noFill/>
          <a:ln/>
        </p:spPr>
        <p:txBody>
          <a:bodyPr wrap="square" lIns="0" tIns="0" rIns="0" bIns="0" rtlCol="0" anchor="ctr"/>
          <a:lstStyle/>
          <a:p>
            <a:pPr marL="0" indent="0">
              <a:buNone/>
            </a:pPr>
            <a:r>
              <a:rPr lang="en-US" sz="1600" b="1" dirty="0">
                <a:solidFill>
                  <a:srgbClr val="1B2B26"/>
                </a:solidFill>
                <a:latin typeface="Cambria" pitchFamily="34" charset="0"/>
                <a:ea typeface="Cambria" pitchFamily="34" charset="-122"/>
                <a:cs typeface="Cambria" pitchFamily="34" charset="-120"/>
              </a:rPr>
              <a:t>Grounded extraction</a:t>
            </a:r>
            <a:endParaRPr lang="en-US" sz="1600" dirty="0"/>
          </a:p>
        </p:txBody>
      </p:sp>
      <p:sp>
        <p:nvSpPr>
          <p:cNvPr id="7" name="Text 5"/>
          <p:cNvSpPr/>
          <p:nvPr/>
        </p:nvSpPr>
        <p:spPr>
          <a:xfrm>
            <a:off x="896112" y="2404872"/>
            <a:ext cx="2990088" cy="9144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PDF, pasted text, and photo ingestion with the quote-verification gate.</a:t>
            </a:r>
            <a:endParaRPr lang="en-US" sz="1250" dirty="0"/>
          </a:p>
        </p:txBody>
      </p:sp>
      <p:sp>
        <p:nvSpPr>
          <p:cNvPr id="8" name="Shape 6"/>
          <p:cNvSpPr/>
          <p:nvPr/>
        </p:nvSpPr>
        <p:spPr>
          <a:xfrm>
            <a:off x="4325112" y="1783080"/>
            <a:ext cx="3502152" cy="1691640"/>
          </a:xfrm>
          <a:prstGeom prst="roundRect">
            <a:avLst>
              <a:gd name="adj" fmla="val 6486"/>
            </a:avLst>
          </a:prstGeom>
          <a:solidFill>
            <a:srgbClr val="E8F0EA"/>
          </a:solidFill>
          <a:ln w="13970">
            <a:solidFill>
              <a:srgbClr val="4E7C63"/>
            </a:solidFill>
            <a:prstDash val="solid"/>
          </a:ln>
        </p:spPr>
      </p:sp>
      <p:sp>
        <p:nvSpPr>
          <p:cNvPr id="9" name="Text 7"/>
          <p:cNvSpPr/>
          <p:nvPr/>
        </p:nvSpPr>
        <p:spPr>
          <a:xfrm>
            <a:off x="4581144" y="1984248"/>
            <a:ext cx="365760" cy="320040"/>
          </a:xfrm>
          <a:prstGeom prst="rect">
            <a:avLst/>
          </a:prstGeom>
          <a:noFill/>
          <a:ln/>
        </p:spPr>
        <p:txBody>
          <a:bodyPr wrap="square" lIns="0" tIns="0" rIns="0" bIns="0" rtlCol="0" anchor="ctr"/>
          <a:lstStyle/>
          <a:p>
            <a:pPr marL="0" indent="0">
              <a:buNone/>
            </a:pPr>
            <a:r>
              <a:rPr lang="en-US" sz="1700" b="1" dirty="0">
                <a:solidFill>
                  <a:srgbClr val="4E7C63"/>
                </a:solidFill>
                <a:latin typeface="Calibri" pitchFamily="34" charset="0"/>
                <a:ea typeface="Calibri" pitchFamily="34" charset="-122"/>
                <a:cs typeface="Calibri" pitchFamily="34" charset="-120"/>
              </a:rPr>
              <a:t>✓</a:t>
            </a:r>
            <a:endParaRPr lang="en-US" sz="1700" dirty="0"/>
          </a:p>
        </p:txBody>
      </p:sp>
      <p:sp>
        <p:nvSpPr>
          <p:cNvPr id="10" name="Text 8"/>
          <p:cNvSpPr/>
          <p:nvPr/>
        </p:nvSpPr>
        <p:spPr>
          <a:xfrm>
            <a:off x="4983480" y="1984248"/>
            <a:ext cx="2606040" cy="320040"/>
          </a:xfrm>
          <a:prstGeom prst="rect">
            <a:avLst/>
          </a:prstGeom>
          <a:noFill/>
          <a:ln/>
        </p:spPr>
        <p:txBody>
          <a:bodyPr wrap="square" lIns="0" tIns="0" rIns="0" bIns="0" rtlCol="0" anchor="ctr"/>
          <a:lstStyle/>
          <a:p>
            <a:pPr marL="0" indent="0">
              <a:buNone/>
            </a:pPr>
            <a:r>
              <a:rPr lang="en-US" sz="1600" b="1" dirty="0">
                <a:solidFill>
                  <a:srgbClr val="1B2B26"/>
                </a:solidFill>
                <a:latin typeface="Cambria" pitchFamily="34" charset="0"/>
                <a:ea typeface="Cambria" pitchFamily="34" charset="-122"/>
                <a:cs typeface="Cambria" pitchFamily="34" charset="-120"/>
              </a:rPr>
              <a:t>Review and confirm</a:t>
            </a:r>
            <a:endParaRPr lang="en-US" sz="1600" dirty="0"/>
          </a:p>
        </p:txBody>
      </p:sp>
      <p:sp>
        <p:nvSpPr>
          <p:cNvPr id="11" name="Text 9"/>
          <p:cNvSpPr/>
          <p:nvPr/>
        </p:nvSpPr>
        <p:spPr>
          <a:xfrm>
            <a:off x="4581144" y="2404872"/>
            <a:ext cx="2990088" cy="9144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Confirm, edit, reject, remove — with confidence flags and an append-only audit log.</a:t>
            </a:r>
            <a:endParaRPr lang="en-US" sz="1250" dirty="0"/>
          </a:p>
        </p:txBody>
      </p:sp>
      <p:sp>
        <p:nvSpPr>
          <p:cNvPr id="12" name="Shape 10"/>
          <p:cNvSpPr/>
          <p:nvPr/>
        </p:nvSpPr>
        <p:spPr>
          <a:xfrm>
            <a:off x="8010144" y="1783080"/>
            <a:ext cx="3502152" cy="1691640"/>
          </a:xfrm>
          <a:prstGeom prst="roundRect">
            <a:avLst>
              <a:gd name="adj" fmla="val 6486"/>
            </a:avLst>
          </a:prstGeom>
          <a:solidFill>
            <a:srgbClr val="E8F0EA"/>
          </a:solidFill>
          <a:ln w="13970">
            <a:solidFill>
              <a:srgbClr val="4E7C63"/>
            </a:solidFill>
            <a:prstDash val="solid"/>
          </a:ln>
        </p:spPr>
      </p:sp>
      <p:sp>
        <p:nvSpPr>
          <p:cNvPr id="13" name="Text 11"/>
          <p:cNvSpPr/>
          <p:nvPr/>
        </p:nvSpPr>
        <p:spPr>
          <a:xfrm>
            <a:off x="8266176" y="1984248"/>
            <a:ext cx="365760" cy="320040"/>
          </a:xfrm>
          <a:prstGeom prst="rect">
            <a:avLst/>
          </a:prstGeom>
          <a:noFill/>
          <a:ln/>
        </p:spPr>
        <p:txBody>
          <a:bodyPr wrap="square" lIns="0" tIns="0" rIns="0" bIns="0" rtlCol="0" anchor="ctr"/>
          <a:lstStyle/>
          <a:p>
            <a:pPr marL="0" indent="0">
              <a:buNone/>
            </a:pPr>
            <a:r>
              <a:rPr lang="en-US" sz="1700" b="1" dirty="0">
                <a:solidFill>
                  <a:srgbClr val="4E7C63"/>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8668512" y="1984248"/>
            <a:ext cx="2606040" cy="320040"/>
          </a:xfrm>
          <a:prstGeom prst="rect">
            <a:avLst/>
          </a:prstGeom>
          <a:noFill/>
          <a:ln/>
        </p:spPr>
        <p:txBody>
          <a:bodyPr wrap="square" lIns="0" tIns="0" rIns="0" bIns="0" rtlCol="0" anchor="ctr"/>
          <a:lstStyle/>
          <a:p>
            <a:pPr marL="0" indent="0">
              <a:buNone/>
            </a:pPr>
            <a:r>
              <a:rPr lang="en-US" sz="1600" b="1" dirty="0">
                <a:solidFill>
                  <a:srgbClr val="1B2B26"/>
                </a:solidFill>
                <a:latin typeface="Cambria" pitchFamily="34" charset="0"/>
                <a:ea typeface="Cambria" pitchFamily="34" charset="-122"/>
                <a:cs typeface="Cambria" pitchFamily="34" charset="-120"/>
              </a:rPr>
              <a:t>Printable fridge sheet</a:t>
            </a:r>
            <a:endParaRPr lang="en-US" sz="1600" dirty="0"/>
          </a:p>
        </p:txBody>
      </p:sp>
      <p:sp>
        <p:nvSpPr>
          <p:cNvPr id="15" name="Text 13"/>
          <p:cNvSpPr/>
          <p:nvPr/>
        </p:nvSpPr>
        <p:spPr>
          <a:xfrm>
            <a:off x="8266176" y="2404872"/>
            <a:ext cx="2990088" cy="9144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The confirmed plan as one page, formatted for a refrigerator door.</a:t>
            </a:r>
            <a:endParaRPr lang="en-US" sz="1250" dirty="0"/>
          </a:p>
        </p:txBody>
      </p:sp>
      <p:sp>
        <p:nvSpPr>
          <p:cNvPr id="16" name="Shape 14"/>
          <p:cNvSpPr/>
          <p:nvPr/>
        </p:nvSpPr>
        <p:spPr>
          <a:xfrm>
            <a:off x="640080" y="3703320"/>
            <a:ext cx="3502152" cy="1691640"/>
          </a:xfrm>
          <a:prstGeom prst="roundRect">
            <a:avLst>
              <a:gd name="adj" fmla="val 6486"/>
            </a:avLst>
          </a:prstGeom>
          <a:solidFill>
            <a:srgbClr val="E8F0EA"/>
          </a:solidFill>
          <a:ln w="13970">
            <a:solidFill>
              <a:srgbClr val="4E7C63"/>
            </a:solidFill>
            <a:prstDash val="solid"/>
          </a:ln>
        </p:spPr>
      </p:sp>
      <p:sp>
        <p:nvSpPr>
          <p:cNvPr id="17" name="Text 15"/>
          <p:cNvSpPr/>
          <p:nvPr/>
        </p:nvSpPr>
        <p:spPr>
          <a:xfrm>
            <a:off x="896112" y="3904488"/>
            <a:ext cx="365760" cy="320040"/>
          </a:xfrm>
          <a:prstGeom prst="rect">
            <a:avLst/>
          </a:prstGeom>
          <a:noFill/>
          <a:ln/>
        </p:spPr>
        <p:txBody>
          <a:bodyPr wrap="square" lIns="0" tIns="0" rIns="0" bIns="0" rtlCol="0" anchor="ctr"/>
          <a:lstStyle/>
          <a:p>
            <a:pPr marL="0" indent="0">
              <a:buNone/>
            </a:pPr>
            <a:r>
              <a:rPr lang="en-US" sz="1700" b="1" dirty="0">
                <a:solidFill>
                  <a:srgbClr val="4E7C63"/>
                </a:solidFill>
                <a:latin typeface="Calibri" pitchFamily="34" charset="0"/>
                <a:ea typeface="Calibri" pitchFamily="34" charset="-122"/>
                <a:cs typeface="Calibri" pitchFamily="34" charset="-120"/>
              </a:rPr>
              <a:t>✓</a:t>
            </a:r>
            <a:endParaRPr lang="en-US" sz="1700" dirty="0"/>
          </a:p>
        </p:txBody>
      </p:sp>
      <p:sp>
        <p:nvSpPr>
          <p:cNvPr id="18" name="Text 16"/>
          <p:cNvSpPr/>
          <p:nvPr/>
        </p:nvSpPr>
        <p:spPr>
          <a:xfrm>
            <a:off x="1298448" y="3904488"/>
            <a:ext cx="2606040" cy="320040"/>
          </a:xfrm>
          <a:prstGeom prst="rect">
            <a:avLst/>
          </a:prstGeom>
          <a:noFill/>
          <a:ln/>
        </p:spPr>
        <p:txBody>
          <a:bodyPr wrap="square" lIns="0" tIns="0" rIns="0" bIns="0" rtlCol="0" anchor="ctr"/>
          <a:lstStyle/>
          <a:p>
            <a:pPr marL="0" indent="0">
              <a:buNone/>
            </a:pPr>
            <a:r>
              <a:rPr lang="en-US" sz="1600" b="1" dirty="0">
                <a:solidFill>
                  <a:srgbClr val="1B2B26"/>
                </a:solidFill>
                <a:latin typeface="Cambria" pitchFamily="34" charset="0"/>
                <a:ea typeface="Cambria" pitchFamily="34" charset="-122"/>
                <a:cs typeface="Cambria" pitchFamily="34" charset="-120"/>
              </a:rPr>
              <a:t>Family share link</a:t>
            </a:r>
            <a:endParaRPr lang="en-US" sz="1600" dirty="0"/>
          </a:p>
        </p:txBody>
      </p:sp>
      <p:sp>
        <p:nvSpPr>
          <p:cNvPr id="19" name="Text 17"/>
          <p:cNvSpPr/>
          <p:nvPr/>
        </p:nvSpPr>
        <p:spPr>
          <a:xfrm>
            <a:off x="896112" y="4325112"/>
            <a:ext cx="2990088" cy="9144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Revocable, read-only view for relatives who are not managing care.</a:t>
            </a:r>
            <a:endParaRPr lang="en-US" sz="1250" dirty="0"/>
          </a:p>
        </p:txBody>
      </p:sp>
      <p:sp>
        <p:nvSpPr>
          <p:cNvPr id="20" name="Shape 18"/>
          <p:cNvSpPr/>
          <p:nvPr/>
        </p:nvSpPr>
        <p:spPr>
          <a:xfrm>
            <a:off x="4325112" y="3703320"/>
            <a:ext cx="3502152" cy="1691640"/>
          </a:xfrm>
          <a:prstGeom prst="roundRect">
            <a:avLst>
              <a:gd name="adj" fmla="val 6486"/>
            </a:avLst>
          </a:prstGeom>
          <a:solidFill>
            <a:srgbClr val="E8F0EA"/>
          </a:solidFill>
          <a:ln w="13970">
            <a:solidFill>
              <a:srgbClr val="4E7C63"/>
            </a:solidFill>
            <a:prstDash val="solid"/>
          </a:ln>
        </p:spPr>
      </p:sp>
      <p:sp>
        <p:nvSpPr>
          <p:cNvPr id="21" name="Text 19"/>
          <p:cNvSpPr/>
          <p:nvPr/>
        </p:nvSpPr>
        <p:spPr>
          <a:xfrm>
            <a:off x="4581144" y="3904488"/>
            <a:ext cx="365760" cy="320040"/>
          </a:xfrm>
          <a:prstGeom prst="rect">
            <a:avLst/>
          </a:prstGeom>
          <a:noFill/>
          <a:ln/>
        </p:spPr>
        <p:txBody>
          <a:bodyPr wrap="square" lIns="0" tIns="0" rIns="0" bIns="0" rtlCol="0" anchor="ctr"/>
          <a:lstStyle/>
          <a:p>
            <a:pPr marL="0" indent="0">
              <a:buNone/>
            </a:pPr>
            <a:r>
              <a:rPr lang="en-US" sz="1700" b="1" dirty="0">
                <a:solidFill>
                  <a:srgbClr val="4E7C63"/>
                </a:solidFill>
                <a:latin typeface="Calibri" pitchFamily="34" charset="0"/>
                <a:ea typeface="Calibri" pitchFamily="34" charset="-122"/>
                <a:cs typeface="Calibri" pitchFamily="34" charset="-120"/>
              </a:rPr>
              <a:t>✓</a:t>
            </a:r>
            <a:endParaRPr lang="en-US" sz="1700" dirty="0"/>
          </a:p>
        </p:txBody>
      </p:sp>
      <p:sp>
        <p:nvSpPr>
          <p:cNvPr id="22" name="Text 20"/>
          <p:cNvSpPr/>
          <p:nvPr/>
        </p:nvSpPr>
        <p:spPr>
          <a:xfrm>
            <a:off x="4983480" y="3904488"/>
            <a:ext cx="2606040" cy="320040"/>
          </a:xfrm>
          <a:prstGeom prst="rect">
            <a:avLst/>
          </a:prstGeom>
          <a:noFill/>
          <a:ln/>
        </p:spPr>
        <p:txBody>
          <a:bodyPr wrap="square" lIns="0" tIns="0" rIns="0" bIns="0" rtlCol="0" anchor="ctr"/>
          <a:lstStyle/>
          <a:p>
            <a:pPr marL="0" indent="0">
              <a:buNone/>
            </a:pPr>
            <a:r>
              <a:rPr lang="en-US" sz="1600" b="1" dirty="0">
                <a:solidFill>
                  <a:srgbClr val="1B2B26"/>
                </a:solidFill>
                <a:latin typeface="Cambria" pitchFamily="34" charset="0"/>
                <a:ea typeface="Cambria" pitchFamily="34" charset="-122"/>
                <a:cs typeface="Cambria" pitchFamily="34" charset="-120"/>
              </a:rPr>
              <a:t>RAG guidance</a:t>
            </a:r>
            <a:endParaRPr lang="en-US" sz="1600" dirty="0"/>
          </a:p>
        </p:txBody>
      </p:sp>
      <p:sp>
        <p:nvSpPr>
          <p:cNvPr id="23" name="Text 21"/>
          <p:cNvSpPr/>
          <p:nvPr/>
        </p:nvSpPr>
        <p:spPr>
          <a:xfrm>
            <a:off x="4581144" y="4325112"/>
            <a:ext cx="2990088" cy="9144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Answers only from a curated corpus — otherwise it declines and says ask your care team.</a:t>
            </a:r>
            <a:endParaRPr lang="en-US" sz="1250" dirty="0"/>
          </a:p>
        </p:txBody>
      </p:sp>
      <p:sp>
        <p:nvSpPr>
          <p:cNvPr id="24" name="Shape 22"/>
          <p:cNvSpPr/>
          <p:nvPr/>
        </p:nvSpPr>
        <p:spPr>
          <a:xfrm>
            <a:off x="8010144" y="3703320"/>
            <a:ext cx="3502152" cy="1691640"/>
          </a:xfrm>
          <a:prstGeom prst="roundRect">
            <a:avLst>
              <a:gd name="adj" fmla="val 6486"/>
            </a:avLst>
          </a:prstGeom>
          <a:solidFill>
            <a:srgbClr val="E8F0EA"/>
          </a:solidFill>
          <a:ln w="13970">
            <a:solidFill>
              <a:srgbClr val="4E7C63"/>
            </a:solidFill>
            <a:prstDash val="solid"/>
          </a:ln>
        </p:spPr>
      </p:sp>
      <p:sp>
        <p:nvSpPr>
          <p:cNvPr id="25" name="Text 23"/>
          <p:cNvSpPr/>
          <p:nvPr/>
        </p:nvSpPr>
        <p:spPr>
          <a:xfrm>
            <a:off x="8266176" y="3904488"/>
            <a:ext cx="365760" cy="320040"/>
          </a:xfrm>
          <a:prstGeom prst="rect">
            <a:avLst/>
          </a:prstGeom>
          <a:noFill/>
          <a:ln/>
        </p:spPr>
        <p:txBody>
          <a:bodyPr wrap="square" lIns="0" tIns="0" rIns="0" bIns="0" rtlCol="0" anchor="ctr"/>
          <a:lstStyle/>
          <a:p>
            <a:pPr marL="0" indent="0">
              <a:buNone/>
            </a:pPr>
            <a:r>
              <a:rPr lang="en-US" sz="1700" b="1" dirty="0">
                <a:solidFill>
                  <a:srgbClr val="4E7C63"/>
                </a:solidFill>
                <a:latin typeface="Calibri" pitchFamily="34" charset="0"/>
                <a:ea typeface="Calibri" pitchFamily="34" charset="-122"/>
                <a:cs typeface="Calibri" pitchFamily="34" charset="-120"/>
              </a:rPr>
              <a:t>✓</a:t>
            </a:r>
            <a:endParaRPr lang="en-US" sz="1700" dirty="0"/>
          </a:p>
        </p:txBody>
      </p:sp>
      <p:sp>
        <p:nvSpPr>
          <p:cNvPr id="26" name="Text 24"/>
          <p:cNvSpPr/>
          <p:nvPr/>
        </p:nvSpPr>
        <p:spPr>
          <a:xfrm>
            <a:off x="8668512" y="3904488"/>
            <a:ext cx="2606040" cy="320040"/>
          </a:xfrm>
          <a:prstGeom prst="rect">
            <a:avLst/>
          </a:prstGeom>
          <a:noFill/>
          <a:ln/>
        </p:spPr>
        <p:txBody>
          <a:bodyPr wrap="square" lIns="0" tIns="0" rIns="0" bIns="0" rtlCol="0" anchor="ctr"/>
          <a:lstStyle/>
          <a:p>
            <a:pPr marL="0" indent="0">
              <a:buNone/>
            </a:pPr>
            <a:r>
              <a:rPr lang="en-US" sz="1600" b="1" dirty="0">
                <a:solidFill>
                  <a:srgbClr val="1B2B26"/>
                </a:solidFill>
                <a:latin typeface="Cambria" pitchFamily="34" charset="0"/>
                <a:ea typeface="Cambria" pitchFamily="34" charset="-122"/>
                <a:cs typeface="Cambria" pitchFamily="34" charset="-120"/>
              </a:rPr>
              <a:t>FHIR export</a:t>
            </a:r>
            <a:endParaRPr lang="en-US" sz="1600" dirty="0"/>
          </a:p>
        </p:txBody>
      </p:sp>
      <p:sp>
        <p:nvSpPr>
          <p:cNvPr id="27" name="Text 25"/>
          <p:cNvSpPr/>
          <p:nvPr/>
        </p:nvSpPr>
        <p:spPr>
          <a:xfrm>
            <a:off x="8266176" y="4325112"/>
            <a:ext cx="2990088" cy="914400"/>
          </a:xfrm>
          <a:prstGeom prst="rect">
            <a:avLst/>
          </a:prstGeom>
          <a:noFill/>
          <a:ln/>
        </p:spPr>
        <p:txBody>
          <a:bodyPr wrap="square" lIns="0" tIns="0" rIns="0" bIns="0" rtlCol="0" anchor="ctr"/>
          <a:lstStyle/>
          <a:p>
            <a:pPr marL="0" indent="0">
              <a:buNone/>
            </a:pPr>
            <a:r>
              <a:rPr lang="en-US" sz="1250" dirty="0">
                <a:solidFill>
                  <a:srgbClr val="3F4A44"/>
                </a:solidFill>
                <a:latin typeface="Calibri" pitchFamily="34" charset="0"/>
                <a:ea typeface="Calibri" pitchFamily="34" charset="-122"/>
                <a:cs typeface="Calibri" pitchFamily="34" charset="-120"/>
              </a:rPr>
              <a:t>The confirmed plan as a standards-compliant bundle, ready to hand to a clinician.</a:t>
            </a:r>
            <a:endParaRPr lang="en-US" sz="1250" dirty="0"/>
          </a:p>
        </p:txBody>
      </p:sp>
      <p:sp>
        <p:nvSpPr>
          <p:cNvPr id="28" name="Text 26"/>
          <p:cNvSpPr/>
          <p:nvPr/>
        </p:nvSpPr>
        <p:spPr>
          <a:xfrm>
            <a:off x="640080" y="5715000"/>
            <a:ext cx="10881360" cy="365760"/>
          </a:xfrm>
          <a:prstGeom prst="rect">
            <a:avLst/>
          </a:prstGeom>
          <a:noFill/>
          <a:ln/>
        </p:spPr>
        <p:txBody>
          <a:bodyPr wrap="square" lIns="0" tIns="0" rIns="0" bIns="0" rtlCol="0" anchor="ctr"/>
          <a:lstStyle/>
          <a:p>
            <a:pPr marL="0" indent="0">
              <a:buNone/>
            </a:pPr>
            <a:r>
              <a:rPr lang="en-US" sz="1300" i="1" dirty="0">
                <a:solidFill>
                  <a:srgbClr val="6E7B74"/>
                </a:solidFill>
                <a:latin typeface="Calibri" pitchFamily="34" charset="0"/>
                <a:ea typeface="Calibri" pitchFamily="34" charset="-122"/>
                <a:cs typeface="Calibri" pitchFamily="34" charset="-120"/>
              </a:rPr>
              <a:t>Deployed at homecoming-care.netlify.app  ·  auth, Row Level Security, and rate limiting live in production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4E7C63"/>
                </a:solidFill>
                <a:latin typeface="Calibri" pitchFamily="34" charset="0"/>
                <a:ea typeface="Calibri" pitchFamily="34" charset="-122"/>
                <a:cs typeface="Calibri" pitchFamily="34" charset="-120"/>
              </a:rPr>
              <a:t>SAFETY POSTURE</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1B2B26"/>
                </a:solidFill>
                <a:latin typeface="Cambria" pitchFamily="34" charset="0"/>
                <a:ea typeface="Cambria" pitchFamily="34" charset="-122"/>
                <a:cs typeface="Cambria" pitchFamily="34" charset="-120"/>
              </a:rPr>
              <a:t>What this system refuses to do</a:t>
            </a:r>
            <a:endParaRPr lang="en-US" sz="3800" dirty="0"/>
          </a:p>
        </p:txBody>
      </p:sp>
      <p:sp>
        <p:nvSpPr>
          <p:cNvPr id="4" name="Shape 2"/>
          <p:cNvSpPr/>
          <p:nvPr/>
        </p:nvSpPr>
        <p:spPr>
          <a:xfrm>
            <a:off x="640080" y="1371227"/>
            <a:ext cx="10881360" cy="1325880"/>
          </a:xfrm>
          <a:prstGeom prst="roundRect">
            <a:avLst>
              <a:gd name="adj" fmla="val 8276"/>
            </a:avLst>
          </a:prstGeom>
          <a:solidFill>
            <a:srgbClr val="F7E9E7"/>
          </a:solidFill>
          <a:ln w="15875">
            <a:solidFill>
              <a:srgbClr val="9B3B32"/>
            </a:solidFill>
            <a:prstDash val="solid"/>
          </a:ln>
        </p:spPr>
      </p:sp>
      <p:sp>
        <p:nvSpPr>
          <p:cNvPr id="5" name="Text 3"/>
          <p:cNvSpPr/>
          <p:nvPr/>
        </p:nvSpPr>
        <p:spPr>
          <a:xfrm>
            <a:off x="1005840" y="1604772"/>
            <a:ext cx="4114800" cy="365760"/>
          </a:xfrm>
          <a:prstGeom prst="rect">
            <a:avLst/>
          </a:prstGeom>
          <a:noFill/>
          <a:ln/>
        </p:spPr>
        <p:txBody>
          <a:bodyPr wrap="square" lIns="0" tIns="0" rIns="0" bIns="0" rtlCol="0" anchor="ctr"/>
          <a:lstStyle/>
          <a:p>
            <a:pPr marL="0" indent="0">
              <a:buNone/>
            </a:pPr>
            <a:r>
              <a:rPr lang="en-US" sz="1700" b="1" dirty="0">
                <a:solidFill>
                  <a:srgbClr val="9B3B32"/>
                </a:solidFill>
                <a:latin typeface="Cambria" pitchFamily="34" charset="0"/>
                <a:ea typeface="Cambria" pitchFamily="34" charset="-122"/>
                <a:cs typeface="Cambria" pitchFamily="34" charset="-120"/>
              </a:rPr>
              <a:t>No diagnosis, dosing, or triage</a:t>
            </a:r>
            <a:endParaRPr lang="en-US" sz="1700" dirty="0"/>
          </a:p>
        </p:txBody>
      </p:sp>
      <p:sp>
        <p:nvSpPr>
          <p:cNvPr id="6" name="Text 4"/>
          <p:cNvSpPr/>
          <p:nvPr/>
        </p:nvSpPr>
        <p:spPr>
          <a:xfrm>
            <a:off x="1005840" y="2085299"/>
            <a:ext cx="10149840" cy="621792"/>
          </a:xfrm>
          <a:prstGeom prst="rect">
            <a:avLst/>
          </a:prstGeom>
          <a:noFill/>
          <a:ln/>
        </p:spPr>
        <p:txBody>
          <a:bodyPr wrap="square" lIns="0" tIns="0" rIns="0" bIns="0" rtlCol="0" anchor="t"/>
          <a:lstStyle/>
          <a:p>
            <a:pPr marL="0" indent="0">
              <a:buNone/>
            </a:pPr>
            <a:r>
              <a:rPr lang="en-US" sz="1300" dirty="0">
                <a:solidFill>
                  <a:srgbClr val="3F4A44"/>
                </a:solidFill>
                <a:latin typeface="Calibri" pitchFamily="34" charset="0"/>
                <a:ea typeface="Calibri" pitchFamily="34" charset="-122"/>
                <a:cs typeface="Calibri" pitchFamily="34" charset="-120"/>
              </a:rPr>
              <a:t>Claude may only restructure what the document already says. Enforced in the system prompt and validated on output.</a:t>
            </a:r>
            <a:endParaRPr lang="en-US" sz="1300" dirty="0"/>
          </a:p>
        </p:txBody>
      </p:sp>
      <p:sp>
        <p:nvSpPr>
          <p:cNvPr id="7" name="Shape 5"/>
          <p:cNvSpPr/>
          <p:nvPr/>
        </p:nvSpPr>
        <p:spPr>
          <a:xfrm>
            <a:off x="640080" y="2899115"/>
            <a:ext cx="10881360" cy="1325880"/>
          </a:xfrm>
          <a:prstGeom prst="roundRect">
            <a:avLst>
              <a:gd name="adj" fmla="val 8276"/>
            </a:avLst>
          </a:prstGeom>
          <a:solidFill>
            <a:srgbClr val="F7E9E7"/>
          </a:solidFill>
          <a:ln w="15875">
            <a:solidFill>
              <a:srgbClr val="9B3B32"/>
            </a:solidFill>
            <a:prstDash val="solid"/>
          </a:ln>
        </p:spPr>
      </p:sp>
      <p:sp>
        <p:nvSpPr>
          <p:cNvPr id="8" name="Text 6"/>
          <p:cNvSpPr/>
          <p:nvPr/>
        </p:nvSpPr>
        <p:spPr>
          <a:xfrm>
            <a:off x="1005840" y="3061934"/>
            <a:ext cx="4114800" cy="365760"/>
          </a:xfrm>
          <a:prstGeom prst="rect">
            <a:avLst/>
          </a:prstGeom>
          <a:noFill/>
          <a:ln/>
        </p:spPr>
        <p:txBody>
          <a:bodyPr wrap="square" lIns="0" tIns="0" rIns="0" bIns="0" rtlCol="0" anchor="ctr"/>
          <a:lstStyle/>
          <a:p>
            <a:pPr marL="0" indent="0">
              <a:buNone/>
            </a:pPr>
            <a:r>
              <a:rPr lang="en-US" sz="1700" b="1" dirty="0">
                <a:solidFill>
                  <a:srgbClr val="9B3B32"/>
                </a:solidFill>
                <a:latin typeface="Cambria" pitchFamily="34" charset="0"/>
                <a:ea typeface="Cambria" pitchFamily="34" charset="-122"/>
                <a:cs typeface="Cambria" pitchFamily="34" charset="-120"/>
              </a:rPr>
              <a:t>No ungrounded answers</a:t>
            </a:r>
            <a:endParaRPr lang="en-US" sz="1700" dirty="0"/>
          </a:p>
        </p:txBody>
      </p:sp>
      <p:sp>
        <p:nvSpPr>
          <p:cNvPr id="9" name="Text 7"/>
          <p:cNvSpPr/>
          <p:nvPr/>
        </p:nvSpPr>
        <p:spPr>
          <a:xfrm>
            <a:off x="1005840" y="3496274"/>
            <a:ext cx="10149840" cy="621792"/>
          </a:xfrm>
          <a:prstGeom prst="rect">
            <a:avLst/>
          </a:prstGeom>
          <a:noFill/>
          <a:ln/>
        </p:spPr>
        <p:txBody>
          <a:bodyPr wrap="square" lIns="0" tIns="0" rIns="0" bIns="0" rtlCol="0" anchor="t"/>
          <a:lstStyle/>
          <a:p>
            <a:pPr marL="0" indent="0">
              <a:buNone/>
            </a:pPr>
            <a:r>
              <a:rPr lang="en-US" sz="1300" dirty="0">
                <a:solidFill>
                  <a:srgbClr val="3F4A44"/>
                </a:solidFill>
                <a:latin typeface="Calibri" pitchFamily="34" charset="0"/>
                <a:ea typeface="Calibri" pitchFamily="34" charset="-122"/>
                <a:cs typeface="Calibri" pitchFamily="34" charset="-120"/>
              </a:rPr>
              <a:t>If no trusted source clears the relevance threshold, guidance declines and tells the caregiver to ask their care team, rather than falling back on model knowledge.</a:t>
            </a:r>
            <a:endParaRPr lang="en-US" sz="1300" dirty="0"/>
          </a:p>
        </p:txBody>
      </p:sp>
      <p:sp>
        <p:nvSpPr>
          <p:cNvPr id="10" name="Shape 8"/>
          <p:cNvSpPr/>
          <p:nvPr/>
        </p:nvSpPr>
        <p:spPr>
          <a:xfrm>
            <a:off x="640080" y="4448369"/>
            <a:ext cx="10881360" cy="1325880"/>
          </a:xfrm>
          <a:prstGeom prst="roundRect">
            <a:avLst>
              <a:gd name="adj" fmla="val 8276"/>
            </a:avLst>
          </a:prstGeom>
          <a:solidFill>
            <a:srgbClr val="E8F0EA"/>
          </a:solidFill>
          <a:ln w="15875">
            <a:solidFill>
              <a:srgbClr val="4E7C63"/>
            </a:solidFill>
            <a:prstDash val="solid"/>
          </a:ln>
        </p:spPr>
        <p:txBody>
          <a:bodyPr/>
          <a:lstStyle/>
          <a:p>
            <a:endParaRPr lang="en-US" dirty="0"/>
          </a:p>
        </p:txBody>
      </p:sp>
      <p:sp>
        <p:nvSpPr>
          <p:cNvPr id="11" name="Text 9"/>
          <p:cNvSpPr/>
          <p:nvPr/>
        </p:nvSpPr>
        <p:spPr>
          <a:xfrm>
            <a:off x="1005840" y="4639274"/>
            <a:ext cx="4114800" cy="365760"/>
          </a:xfrm>
          <a:prstGeom prst="rect">
            <a:avLst/>
          </a:prstGeom>
          <a:noFill/>
          <a:ln/>
        </p:spPr>
        <p:txBody>
          <a:bodyPr wrap="square" lIns="0" tIns="0" rIns="0" bIns="0" rtlCol="0" anchor="ctr"/>
          <a:lstStyle/>
          <a:p>
            <a:pPr marL="0" indent="0">
              <a:buNone/>
            </a:pPr>
            <a:r>
              <a:rPr lang="en-US" sz="1700" b="1" dirty="0">
                <a:solidFill>
                  <a:srgbClr val="4E7C63"/>
                </a:solidFill>
                <a:latin typeface="Cambria" pitchFamily="34" charset="0"/>
                <a:ea typeface="Cambria" pitchFamily="34" charset="-122"/>
                <a:cs typeface="Cambria" pitchFamily="34" charset="-120"/>
              </a:rPr>
              <a:t>No real patient data, ever</a:t>
            </a:r>
            <a:endParaRPr lang="en-US" sz="1700" dirty="0"/>
          </a:p>
        </p:txBody>
      </p:sp>
      <p:sp>
        <p:nvSpPr>
          <p:cNvPr id="12" name="Text 10"/>
          <p:cNvSpPr/>
          <p:nvPr/>
        </p:nvSpPr>
        <p:spPr>
          <a:xfrm>
            <a:off x="1005840" y="5111309"/>
            <a:ext cx="10149840" cy="621792"/>
          </a:xfrm>
          <a:prstGeom prst="rect">
            <a:avLst/>
          </a:prstGeom>
          <a:noFill/>
          <a:ln/>
        </p:spPr>
        <p:txBody>
          <a:bodyPr wrap="square" lIns="0" tIns="0" rIns="0" bIns="0" rtlCol="0" anchor="t"/>
          <a:lstStyle/>
          <a:p>
            <a:pPr marL="0" indent="0">
              <a:buNone/>
            </a:pPr>
            <a:r>
              <a:rPr lang="en-US" sz="1300" dirty="0">
                <a:solidFill>
                  <a:srgbClr val="3F4A44"/>
                </a:solidFill>
                <a:latin typeface="Calibri" pitchFamily="34" charset="0"/>
                <a:ea typeface="Calibri" pitchFamily="34" charset="-122"/>
                <a:cs typeface="Calibri" pitchFamily="34" charset="-120"/>
              </a:rPr>
              <a:t>All development, testing, screenshots, and demo content use one synthetic discharge summary. No real person's medical documents were used at any point.</a:t>
            </a:r>
            <a:endParaRPr lang="en-US" sz="1300" dirty="0"/>
          </a:p>
        </p:txBody>
      </p:sp>
      <p:sp>
        <p:nvSpPr>
          <p:cNvPr id="13" name="Shape 11"/>
          <p:cNvSpPr/>
          <p:nvPr/>
        </p:nvSpPr>
        <p:spPr>
          <a:xfrm>
            <a:off x="640080" y="5943600"/>
            <a:ext cx="10881360" cy="658368"/>
          </a:xfrm>
          <a:prstGeom prst="roundRect">
            <a:avLst>
              <a:gd name="adj" fmla="val 16667"/>
            </a:avLst>
          </a:prstGeom>
          <a:solidFill>
            <a:srgbClr val="1B2B26"/>
          </a:solidFill>
          <a:ln w="12700">
            <a:solidFill>
              <a:srgbClr val="1B2B26"/>
            </a:solidFill>
            <a:prstDash val="solid"/>
          </a:ln>
        </p:spPr>
      </p:sp>
      <p:sp>
        <p:nvSpPr>
          <p:cNvPr id="14" name="Text 12"/>
          <p:cNvSpPr/>
          <p:nvPr/>
        </p:nvSpPr>
        <p:spPr>
          <a:xfrm>
            <a:off x="1005840" y="6131052"/>
            <a:ext cx="10332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Homecoming organizes discharge instructions. It is not medical advice and it is not a medical device.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B26"/>
        </a:solidFill>
        <a:effectLst/>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marL="0" indent="0">
              <a:buNone/>
            </a:pPr>
            <a:r>
              <a:rPr lang="en-US" sz="1150" b="1" kern="0" spc="200" dirty="0">
                <a:solidFill>
                  <a:srgbClr val="8FAE9D"/>
                </a:solidFill>
                <a:latin typeface="Calibri" pitchFamily="34" charset="0"/>
                <a:ea typeface="Calibri" pitchFamily="34" charset="-122"/>
                <a:cs typeface="Calibri" pitchFamily="34" charset="-120"/>
              </a:rPr>
              <a:t>WHAT COMES NEXT</a:t>
            </a:r>
            <a:endParaRPr lang="en-US" sz="1150" dirty="0"/>
          </a:p>
        </p:txBody>
      </p:sp>
      <p:sp>
        <p:nvSpPr>
          <p:cNvPr id="3" name="Text 1"/>
          <p:cNvSpPr/>
          <p:nvPr/>
        </p:nvSpPr>
        <p:spPr>
          <a:xfrm>
            <a:off x="640080" y="566928"/>
            <a:ext cx="10881360" cy="132588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From verified plan to validated product</a:t>
            </a:r>
            <a:endParaRPr lang="en-US" sz="3800" dirty="0"/>
          </a:p>
        </p:txBody>
      </p:sp>
      <p:sp>
        <p:nvSpPr>
          <p:cNvPr id="4" name="Shape 2"/>
          <p:cNvSpPr/>
          <p:nvPr/>
        </p:nvSpPr>
        <p:spPr>
          <a:xfrm>
            <a:off x="640080" y="1783080"/>
            <a:ext cx="2624328" cy="2606040"/>
          </a:xfrm>
          <a:prstGeom prst="roundRect">
            <a:avLst>
              <a:gd name="adj" fmla="val 4211"/>
            </a:avLst>
          </a:prstGeom>
          <a:solidFill>
            <a:srgbClr val="24352E"/>
          </a:solidFill>
          <a:ln w="12700">
            <a:solidFill>
              <a:srgbClr val="3C5449"/>
            </a:solidFill>
            <a:prstDash val="solid"/>
          </a:ln>
        </p:spPr>
      </p:sp>
      <p:sp>
        <p:nvSpPr>
          <p:cNvPr id="5" name="Text 3"/>
          <p:cNvSpPr/>
          <p:nvPr/>
        </p:nvSpPr>
        <p:spPr>
          <a:xfrm>
            <a:off x="868680" y="1965960"/>
            <a:ext cx="2167128" cy="256032"/>
          </a:xfrm>
          <a:prstGeom prst="rect">
            <a:avLst/>
          </a:prstGeom>
          <a:noFill/>
          <a:ln/>
        </p:spPr>
        <p:txBody>
          <a:bodyPr wrap="square" lIns="0" tIns="0" rIns="0" bIns="0" rtlCol="0" anchor="ctr"/>
          <a:lstStyle/>
          <a:p>
            <a:pPr marL="0" indent="0">
              <a:buNone/>
            </a:pPr>
            <a:r>
              <a:rPr lang="en-US" sz="950" b="1" kern="0" spc="150" dirty="0">
                <a:solidFill>
                  <a:srgbClr val="4E7C63"/>
                </a:solidFill>
                <a:latin typeface="Calibri" pitchFamily="34" charset="0"/>
                <a:ea typeface="Calibri" pitchFamily="34" charset="-122"/>
                <a:cs typeface="Calibri" pitchFamily="34" charset="-120"/>
              </a:rPr>
              <a:t>NEXT</a:t>
            </a:r>
            <a:endParaRPr lang="en-US" sz="950" dirty="0"/>
          </a:p>
        </p:txBody>
      </p:sp>
      <p:sp>
        <p:nvSpPr>
          <p:cNvPr id="6" name="Text 4"/>
          <p:cNvSpPr/>
          <p:nvPr/>
        </p:nvSpPr>
        <p:spPr>
          <a:xfrm>
            <a:off x="868680" y="2286000"/>
            <a:ext cx="2167128"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Caregiver interviews</a:t>
            </a:r>
            <a:endParaRPr lang="en-US" sz="1600" dirty="0"/>
          </a:p>
        </p:txBody>
      </p:sp>
      <p:sp>
        <p:nvSpPr>
          <p:cNvPr id="7" name="Text 5"/>
          <p:cNvSpPr/>
          <p:nvPr/>
        </p:nvSpPr>
        <p:spPr>
          <a:xfrm>
            <a:off x="868680" y="2971800"/>
            <a:ext cx="2167128" cy="1280160"/>
          </a:xfrm>
          <a:prstGeom prst="rect">
            <a:avLst/>
          </a:prstGeom>
          <a:noFill/>
          <a:ln/>
        </p:spPr>
        <p:txBody>
          <a:bodyPr wrap="square" lIns="0" tIns="0" rIns="0" bIns="0" rtlCol="0" anchor="ctr"/>
          <a:lstStyle/>
          <a:p>
            <a:pPr marL="0" indent="0">
              <a:buNone/>
            </a:pPr>
            <a:r>
              <a:rPr lang="en-US" sz="1200" dirty="0">
                <a:solidFill>
                  <a:srgbClr val="8FAE9D"/>
                </a:solidFill>
                <a:latin typeface="Calibri" pitchFamily="34" charset="0"/>
                <a:ea typeface="Calibri" pitchFamily="34" charset="-122"/>
                <a:cs typeface="Calibri" pitchFamily="34" charset="-120"/>
              </a:rPr>
              <a:t>5–8 structured interviews to trace design decisions back to lived experience — the strongest remaining gap.</a:t>
            </a:r>
            <a:endParaRPr lang="en-US" sz="1200" dirty="0"/>
          </a:p>
        </p:txBody>
      </p:sp>
      <p:sp>
        <p:nvSpPr>
          <p:cNvPr id="8" name="Shape 6"/>
          <p:cNvSpPr/>
          <p:nvPr/>
        </p:nvSpPr>
        <p:spPr>
          <a:xfrm>
            <a:off x="3447288" y="1783080"/>
            <a:ext cx="2624328" cy="2606040"/>
          </a:xfrm>
          <a:prstGeom prst="roundRect">
            <a:avLst>
              <a:gd name="adj" fmla="val 4211"/>
            </a:avLst>
          </a:prstGeom>
          <a:solidFill>
            <a:srgbClr val="24352E"/>
          </a:solidFill>
          <a:ln w="12700">
            <a:solidFill>
              <a:srgbClr val="3C5449"/>
            </a:solidFill>
            <a:prstDash val="solid"/>
          </a:ln>
        </p:spPr>
      </p:sp>
      <p:sp>
        <p:nvSpPr>
          <p:cNvPr id="9" name="Text 7"/>
          <p:cNvSpPr/>
          <p:nvPr/>
        </p:nvSpPr>
        <p:spPr>
          <a:xfrm>
            <a:off x="3675888" y="1965960"/>
            <a:ext cx="2167128" cy="256032"/>
          </a:xfrm>
          <a:prstGeom prst="rect">
            <a:avLst/>
          </a:prstGeom>
          <a:noFill/>
          <a:ln/>
        </p:spPr>
        <p:txBody>
          <a:bodyPr wrap="square" lIns="0" tIns="0" rIns="0" bIns="0" rtlCol="0" anchor="ctr"/>
          <a:lstStyle/>
          <a:p>
            <a:pPr marL="0" indent="0">
              <a:buNone/>
            </a:pPr>
            <a:r>
              <a:rPr lang="en-US" sz="950" b="1" kern="0" spc="150" dirty="0">
                <a:solidFill>
                  <a:srgbClr val="4E7C63"/>
                </a:solidFill>
                <a:latin typeface="Calibri" pitchFamily="34" charset="0"/>
                <a:ea typeface="Calibri" pitchFamily="34" charset="-122"/>
                <a:cs typeface="Calibri" pitchFamily="34" charset="-120"/>
              </a:rPr>
              <a:t>IN PROGRESS</a:t>
            </a:r>
            <a:endParaRPr lang="en-US" sz="950" dirty="0"/>
          </a:p>
        </p:txBody>
      </p:sp>
      <p:sp>
        <p:nvSpPr>
          <p:cNvPr id="10" name="Text 8"/>
          <p:cNvSpPr/>
          <p:nvPr/>
        </p:nvSpPr>
        <p:spPr>
          <a:xfrm>
            <a:off x="3675888" y="2286000"/>
            <a:ext cx="2167128"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Email reminder delivery</a:t>
            </a:r>
            <a:endParaRPr lang="en-US" sz="1600" dirty="0"/>
          </a:p>
        </p:txBody>
      </p:sp>
      <p:sp>
        <p:nvSpPr>
          <p:cNvPr id="11" name="Text 9"/>
          <p:cNvSpPr/>
          <p:nvPr/>
        </p:nvSpPr>
        <p:spPr>
          <a:xfrm>
            <a:off x="3675888" y="2971800"/>
            <a:ext cx="2167128" cy="1280160"/>
          </a:xfrm>
          <a:prstGeom prst="rect">
            <a:avLst/>
          </a:prstGeom>
          <a:noFill/>
          <a:ln/>
        </p:spPr>
        <p:txBody>
          <a:bodyPr wrap="square" lIns="0" tIns="0" rIns="0" bIns="0" rtlCol="0" anchor="ctr"/>
          <a:lstStyle/>
          <a:p>
            <a:pPr marL="0" indent="0">
              <a:buNone/>
            </a:pPr>
            <a:r>
              <a:rPr lang="en-US" sz="1200" dirty="0">
                <a:solidFill>
                  <a:srgbClr val="8FAE9D"/>
                </a:solidFill>
                <a:latin typeface="Calibri" pitchFamily="34" charset="0"/>
                <a:ea typeface="Calibri" pitchFamily="34" charset="-122"/>
                <a:cs typeface="Calibri" pitchFamily="34" charset="-120"/>
              </a:rPr>
              <a:t>Schema and scheduled function are built; production delivery and deliverability testing remain.</a:t>
            </a:r>
            <a:endParaRPr lang="en-US" sz="1200" dirty="0"/>
          </a:p>
        </p:txBody>
      </p:sp>
      <p:sp>
        <p:nvSpPr>
          <p:cNvPr id="12" name="Shape 10"/>
          <p:cNvSpPr/>
          <p:nvPr/>
        </p:nvSpPr>
        <p:spPr>
          <a:xfrm>
            <a:off x="6254496" y="1783080"/>
            <a:ext cx="2624328" cy="2606040"/>
          </a:xfrm>
          <a:prstGeom prst="roundRect">
            <a:avLst>
              <a:gd name="adj" fmla="val 4211"/>
            </a:avLst>
          </a:prstGeom>
          <a:solidFill>
            <a:srgbClr val="24352E"/>
          </a:solidFill>
          <a:ln w="12700">
            <a:solidFill>
              <a:srgbClr val="3C5449"/>
            </a:solidFill>
            <a:prstDash val="solid"/>
          </a:ln>
        </p:spPr>
      </p:sp>
      <p:sp>
        <p:nvSpPr>
          <p:cNvPr id="13" name="Text 11"/>
          <p:cNvSpPr/>
          <p:nvPr/>
        </p:nvSpPr>
        <p:spPr>
          <a:xfrm>
            <a:off x="6483096" y="1965960"/>
            <a:ext cx="2167128" cy="256032"/>
          </a:xfrm>
          <a:prstGeom prst="rect">
            <a:avLst/>
          </a:prstGeom>
          <a:noFill/>
          <a:ln/>
        </p:spPr>
        <p:txBody>
          <a:bodyPr wrap="square" lIns="0" tIns="0" rIns="0" bIns="0" rtlCol="0" anchor="ctr"/>
          <a:lstStyle/>
          <a:p>
            <a:pPr marL="0" indent="0">
              <a:buNone/>
            </a:pPr>
            <a:r>
              <a:rPr lang="en-US" sz="950" b="1" kern="0" spc="150" dirty="0">
                <a:solidFill>
                  <a:srgbClr val="4E7C63"/>
                </a:solidFill>
                <a:latin typeface="Calibri" pitchFamily="34" charset="0"/>
                <a:ea typeface="Calibri" pitchFamily="34" charset="-122"/>
                <a:cs typeface="Calibri" pitchFamily="34" charset="-120"/>
              </a:rPr>
              <a:t>PLANNED</a:t>
            </a:r>
            <a:endParaRPr lang="en-US" sz="950" dirty="0"/>
          </a:p>
        </p:txBody>
      </p:sp>
      <p:sp>
        <p:nvSpPr>
          <p:cNvPr id="14" name="Text 12"/>
          <p:cNvSpPr/>
          <p:nvPr/>
        </p:nvSpPr>
        <p:spPr>
          <a:xfrm>
            <a:off x="6483096" y="2286000"/>
            <a:ext cx="2167128"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Prompt-injection test suite</a:t>
            </a:r>
            <a:endParaRPr lang="en-US" sz="1600" dirty="0"/>
          </a:p>
        </p:txBody>
      </p:sp>
      <p:sp>
        <p:nvSpPr>
          <p:cNvPr id="15" name="Text 13"/>
          <p:cNvSpPr/>
          <p:nvPr/>
        </p:nvSpPr>
        <p:spPr>
          <a:xfrm>
            <a:off x="6483096" y="2971800"/>
            <a:ext cx="2167128" cy="1280160"/>
          </a:xfrm>
          <a:prstGeom prst="rect">
            <a:avLst/>
          </a:prstGeom>
          <a:noFill/>
          <a:ln/>
        </p:spPr>
        <p:txBody>
          <a:bodyPr wrap="square" lIns="0" tIns="0" rIns="0" bIns="0" rtlCol="0" anchor="ctr"/>
          <a:lstStyle/>
          <a:p>
            <a:pPr marL="0" indent="0">
              <a:buNone/>
            </a:pPr>
            <a:r>
              <a:rPr lang="en-US" sz="1200" dirty="0">
                <a:solidFill>
                  <a:srgbClr val="8FAE9D"/>
                </a:solidFill>
                <a:latin typeface="Calibri" pitchFamily="34" charset="0"/>
                <a:ea typeface="Calibri" pitchFamily="34" charset="-122"/>
                <a:cs typeface="Calibri" pitchFamily="34" charset="-120"/>
              </a:rPr>
              <a:t>Adversarial documents run as automated tests, so the injection defense is proven rather than argued.</a:t>
            </a:r>
            <a:endParaRPr lang="en-US" sz="1200" dirty="0"/>
          </a:p>
        </p:txBody>
      </p:sp>
      <p:sp>
        <p:nvSpPr>
          <p:cNvPr id="16" name="Shape 14"/>
          <p:cNvSpPr/>
          <p:nvPr/>
        </p:nvSpPr>
        <p:spPr>
          <a:xfrm>
            <a:off x="9061704" y="1783080"/>
            <a:ext cx="2624328" cy="2606040"/>
          </a:xfrm>
          <a:prstGeom prst="roundRect">
            <a:avLst>
              <a:gd name="adj" fmla="val 4211"/>
            </a:avLst>
          </a:prstGeom>
          <a:solidFill>
            <a:srgbClr val="24352E"/>
          </a:solidFill>
          <a:ln w="12700">
            <a:solidFill>
              <a:srgbClr val="3C5449"/>
            </a:solidFill>
            <a:prstDash val="solid"/>
          </a:ln>
        </p:spPr>
      </p:sp>
      <p:sp>
        <p:nvSpPr>
          <p:cNvPr id="17" name="Text 15"/>
          <p:cNvSpPr/>
          <p:nvPr/>
        </p:nvSpPr>
        <p:spPr>
          <a:xfrm>
            <a:off x="9290304" y="1965960"/>
            <a:ext cx="2167128" cy="256032"/>
          </a:xfrm>
          <a:prstGeom prst="rect">
            <a:avLst/>
          </a:prstGeom>
          <a:noFill/>
          <a:ln/>
        </p:spPr>
        <p:txBody>
          <a:bodyPr wrap="square" lIns="0" tIns="0" rIns="0" bIns="0" rtlCol="0" anchor="ctr"/>
          <a:lstStyle/>
          <a:p>
            <a:pPr marL="0" indent="0">
              <a:buNone/>
            </a:pPr>
            <a:r>
              <a:rPr lang="en-US" sz="950" b="1" kern="0" spc="150" dirty="0">
                <a:solidFill>
                  <a:srgbClr val="4E7C63"/>
                </a:solidFill>
                <a:latin typeface="Calibri" pitchFamily="34" charset="0"/>
                <a:ea typeface="Calibri" pitchFamily="34" charset="-122"/>
                <a:cs typeface="Calibri" pitchFamily="34" charset="-120"/>
              </a:rPr>
              <a:t>PLANNED</a:t>
            </a:r>
            <a:endParaRPr lang="en-US" sz="950" dirty="0"/>
          </a:p>
        </p:txBody>
      </p:sp>
      <p:sp>
        <p:nvSpPr>
          <p:cNvPr id="18" name="Text 16"/>
          <p:cNvSpPr/>
          <p:nvPr/>
        </p:nvSpPr>
        <p:spPr>
          <a:xfrm>
            <a:off x="9290304" y="2286000"/>
            <a:ext cx="2167128"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Clinical review</a:t>
            </a:r>
            <a:endParaRPr lang="en-US" sz="1600" dirty="0"/>
          </a:p>
        </p:txBody>
      </p:sp>
      <p:sp>
        <p:nvSpPr>
          <p:cNvPr id="19" name="Text 17"/>
          <p:cNvSpPr/>
          <p:nvPr/>
        </p:nvSpPr>
        <p:spPr>
          <a:xfrm>
            <a:off x="9290304" y="2971800"/>
            <a:ext cx="2167128" cy="1280160"/>
          </a:xfrm>
          <a:prstGeom prst="rect">
            <a:avLst/>
          </a:prstGeom>
          <a:noFill/>
          <a:ln/>
        </p:spPr>
        <p:txBody>
          <a:bodyPr wrap="square" lIns="0" tIns="0" rIns="0" bIns="0" rtlCol="0" anchor="ctr"/>
          <a:lstStyle/>
          <a:p>
            <a:pPr marL="0" indent="0">
              <a:buNone/>
            </a:pPr>
            <a:r>
              <a:rPr lang="en-US" sz="1200" dirty="0">
                <a:solidFill>
                  <a:srgbClr val="8FAE9D"/>
                </a:solidFill>
                <a:latin typeface="Calibri" pitchFamily="34" charset="0"/>
                <a:ea typeface="Calibri" pitchFamily="34" charset="-122"/>
                <a:cs typeface="Calibri" pitchFamily="34" charset="-120"/>
              </a:rPr>
              <a:t>Bring a discharge nurse in to challenge the four item categories and the warning-sign extraction.</a:t>
            </a:r>
            <a:endParaRPr lang="en-US" sz="1200" dirty="0"/>
          </a:p>
        </p:txBody>
      </p:sp>
      <p:sp>
        <p:nvSpPr>
          <p:cNvPr id="20" name="Shape 18"/>
          <p:cNvSpPr/>
          <p:nvPr/>
        </p:nvSpPr>
        <p:spPr>
          <a:xfrm>
            <a:off x="640080" y="4800600"/>
            <a:ext cx="10881360" cy="0"/>
          </a:xfrm>
          <a:prstGeom prst="line">
            <a:avLst/>
          </a:prstGeom>
          <a:noFill/>
          <a:ln w="15875">
            <a:solidFill>
              <a:srgbClr val="3C5449"/>
            </a:solidFill>
            <a:prstDash val="solid"/>
          </a:ln>
        </p:spPr>
      </p:sp>
      <p:sp>
        <p:nvSpPr>
          <p:cNvPr id="21" name="Text 19"/>
          <p:cNvSpPr/>
          <p:nvPr/>
        </p:nvSpPr>
        <p:spPr>
          <a:xfrm>
            <a:off x="640080" y="5074920"/>
            <a:ext cx="7863840" cy="8229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Every item in a caregiver's plan can be traced to the page it came from and a person put it there.</a:t>
            </a:r>
            <a:endParaRPr lang="en-US" sz="2400" dirty="0"/>
          </a:p>
        </p:txBody>
      </p:sp>
      <p:sp>
        <p:nvSpPr>
          <p:cNvPr id="22" name="Text 20"/>
          <p:cNvSpPr/>
          <p:nvPr/>
        </p:nvSpPr>
        <p:spPr>
          <a:xfrm>
            <a:off x="8595360" y="5120640"/>
            <a:ext cx="2926080" cy="1005840"/>
          </a:xfrm>
          <a:prstGeom prst="rect">
            <a:avLst/>
          </a:prstGeom>
          <a:noFill/>
          <a:ln/>
        </p:spPr>
        <p:txBody>
          <a:bodyPr wrap="square" lIns="0" tIns="0" rIns="0" bIns="0" rtlCol="0" anchor="ctr"/>
          <a:lstStyle/>
          <a:p>
            <a:pPr marL="0" indent="0" algn="r">
              <a:lnSpc>
                <a:spcPts val="1900"/>
              </a:lnSpc>
              <a:buNone/>
            </a:pPr>
            <a:r>
              <a:rPr lang="en-US" sz="1500" b="1" dirty="0">
                <a:solidFill>
                  <a:srgbClr val="FFFFFF"/>
                </a:solidFill>
                <a:latin typeface="Calibri" pitchFamily="34" charset="0"/>
                <a:ea typeface="Calibri" pitchFamily="34" charset="-122"/>
                <a:cs typeface="Calibri" pitchFamily="34" charset="-120"/>
              </a:rPr>
              <a:t>Aryan Bhagat</a:t>
            </a:r>
            <a:endParaRPr lang="en-US" sz="1500" dirty="0"/>
          </a:p>
          <a:p>
            <a:pPr marL="0" indent="0" algn="r">
              <a:lnSpc>
                <a:spcPts val="1900"/>
              </a:lnSpc>
              <a:buNone/>
            </a:pPr>
            <a:r>
              <a:rPr lang="en-US" sz="1300" dirty="0">
                <a:solidFill>
                  <a:srgbClr val="8FAE9D"/>
                </a:solidFill>
                <a:latin typeface="Calibri" pitchFamily="34" charset="0"/>
                <a:ea typeface="Calibri" pitchFamily="34" charset="-122"/>
                <a:cs typeface="Calibri" pitchFamily="34" charset="-120"/>
              </a:rPr>
              <a:t>bhagata2025@fau.edu</a:t>
            </a:r>
            <a:endParaRPr lang="en-US" sz="1500" dirty="0"/>
          </a:p>
          <a:p>
            <a:pPr marL="0" indent="0" algn="r">
              <a:lnSpc>
                <a:spcPts val="1900"/>
              </a:lnSpc>
              <a:buNone/>
            </a:pPr>
            <a:r>
              <a:rPr lang="en-US" sz="1300" dirty="0">
                <a:solidFill>
                  <a:srgbClr val="9FC9AF"/>
                </a:solidFill>
                <a:latin typeface="Calibri" pitchFamily="34" charset="0"/>
                <a:ea typeface="Calibri" pitchFamily="34" charset="-122"/>
                <a:cs typeface="Calibri" pitchFamily="34" charset="-120"/>
              </a:rPr>
              <a:t>homecoming-care.netlify.app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2895</Words>
  <Application>Microsoft Office PowerPoint</Application>
  <PresentationFormat>Widescreen</PresentationFormat>
  <Paragraphs>230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Homecoming — Discharge-to-Home Copilot</dc:title>
  <dc:subject>PptxGenJS Presentation</dc:subject>
  <dc:creator>Aryan Bhagat</dc:creator>
  <cp:lastModifiedBy>Aryan Bhagat</cp:lastModifiedBy>
  <cp:revision>2</cp:revision>
  <dcterms:created xsi:type="dcterms:W3CDTF">2026-08-25T20:17:32Z</dcterms:created>
  <dcterms:modified xsi:type="dcterms:W3CDTF">2026-08-25T20:26:58Z</dcterms:modified>
</cp:coreProperties>
</file>