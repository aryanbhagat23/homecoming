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499740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Showcase Intent to Participate — Homecoming, ACL Caregiver AI Prize Challenge. Scheduling conflict: I serve as Student Body Governor for the FAU Broward Campuses (Davie, Fort Lauderdale, Dania Beach) and have standing Student Government obligations during the Aug 28 1–3 PM window. I would like to participate and can present via pre-recorded video demo, or in person at an alternative time. All demo content uses synthetic data only; no real patient documents are used at any point in this 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5852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F2A33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mbria" pitchFamily="34" charset="-120"/>
              </a:rPr>
              <a:t>Homecoming</a:t>
            </a:r>
            <a:endParaRPr lang="en-US" sz="40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75488" y="804672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02809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 pitchFamily="34" charset="-120"/>
              </a:rPr>
              <a:t>A Discharge-to-Home Copilot for Family Caregivers</a:t>
            </a:r>
            <a:endParaRPr lang="en-US" sz="15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589520" y="274320"/>
            <a:ext cx="411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ts val="1300"/>
              </a:lnSpc>
              <a:buNone/>
            </a:pPr>
            <a:r>
              <a:rPr lang="en-US" sz="1600" b="1" dirty="0">
                <a:solidFill>
                  <a:srgbClr val="0F2A33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 pitchFamily="34" charset="-120"/>
              </a:rPr>
              <a:t>Aryan Bhagat</a:t>
            </a:r>
            <a:endParaRPr lang="en-US" sz="12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 algn="r">
              <a:lnSpc>
                <a:spcPts val="1300"/>
              </a:lnSpc>
              <a:buNone/>
            </a:pPr>
            <a:r>
              <a:rPr lang="en-US" sz="1200" dirty="0">
                <a:solidFill>
                  <a:srgbClr val="0F2A33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 pitchFamily="34" charset="-120"/>
              </a:rPr>
              <a:t>bhagata2025@fau.edu   ·   Z23887703</a:t>
            </a:r>
            <a:endParaRPr lang="en-US" sz="12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 algn="r">
              <a:lnSpc>
                <a:spcPts val="1300"/>
              </a:lnSpc>
              <a:buNone/>
            </a:pPr>
            <a:r>
              <a:rPr lang="en-US" sz="1200" b="1" dirty="0">
                <a:solidFill>
                  <a:srgbClr val="0F2A33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 pitchFamily="34" charset="-120"/>
              </a:rPr>
              <a:t>Sponsor: </a:t>
            </a:r>
            <a:r>
              <a:rPr lang="en-US" sz="1200" dirty="0">
                <a:solidFill>
                  <a:srgbClr val="0F2A33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 pitchFamily="34" charset="-120"/>
              </a:rPr>
              <a:t>ACL Caregiver AI Prize Challenge</a:t>
            </a:r>
            <a:endParaRPr lang="en-US" sz="12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 algn="r">
              <a:lnSpc>
                <a:spcPts val="1300"/>
              </a:lnSpc>
              <a:buNone/>
            </a:pPr>
            <a:r>
              <a:rPr lang="en-US" sz="1050" dirty="0">
                <a:solidFill>
                  <a:srgbClr val="5A6B72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 pitchFamily="34" charset="-120"/>
              </a:rPr>
              <a:t>Administration for Community Living, U.S. HHS</a:t>
            </a:r>
            <a:endParaRPr lang="en-US" sz="12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 algn="r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02809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 pitchFamily="34" charset="-120"/>
              </a:rPr>
              <a:t>homecoming-</a:t>
            </a:r>
            <a:r>
              <a:rPr lang="en-US" sz="1050" b="1" dirty="0" err="1">
                <a:solidFill>
                  <a:srgbClr val="02809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 pitchFamily="34" charset="-120"/>
              </a:rPr>
              <a:t>care.netlify.app</a:t>
            </a:r>
            <a:endParaRPr lang="en-US" sz="12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1225296"/>
            <a:ext cx="11247120" cy="658368"/>
          </a:xfrm>
          <a:prstGeom prst="roundRect">
            <a:avLst>
              <a:gd name="adj" fmla="val 9722"/>
            </a:avLst>
          </a:prstGeom>
          <a:solidFill>
            <a:srgbClr val="EAF5F4"/>
          </a:solidFill>
          <a:ln w="12700">
            <a:solidFill>
              <a:srgbClr val="EAF5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316736"/>
            <a:ext cx="10789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lnSpc>
                <a:spcPts val="1350"/>
              </a:lnSpc>
              <a:buNone/>
            </a:pPr>
            <a:r>
              <a:rPr lang="en-US" sz="1200" b="1" kern="0" spc="100" dirty="0">
                <a:solidFill>
                  <a:srgbClr val="02809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 pitchFamily="34" charset="-120"/>
              </a:rPr>
              <a:t>THE PROBLEM    </a:t>
            </a:r>
            <a:r>
              <a:rPr lang="en-US" sz="1400" dirty="0">
                <a:solidFill>
                  <a:srgbClr val="0F2A33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 pitchFamily="34" charset="-120"/>
              </a:rPr>
              <a:t>A caregiver leaves the hospital with a 15–30 page discharge packet  new medications, drugs to stop, appointments, warning signs - in clinical language, spread across pages, with no single place saying what to do tomorrow. They become the sole integrator of information that even clinicians hand off imperfectly.</a:t>
            </a:r>
            <a:endParaRPr lang="en-US" sz="12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457200" y="20116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02809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 pitchFamily="34" charset="-120"/>
              </a:rPr>
              <a:t>HOW IT WORKS - TWO SAFETY GATES</a:t>
            </a:r>
            <a:endParaRPr lang="en-US" sz="105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57200" y="2249424"/>
            <a:ext cx="2084832" cy="658368"/>
          </a:xfrm>
          <a:prstGeom prst="roundRect">
            <a:avLst>
              <a:gd name="adj" fmla="val 8333"/>
            </a:avLst>
          </a:prstGeom>
          <a:solidFill>
            <a:srgbClr val="F6FBFA"/>
          </a:solidFill>
          <a:ln w="12700">
            <a:solidFill>
              <a:srgbClr val="CFE3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304288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600" b="1" dirty="0">
                <a:solidFill>
                  <a:srgbClr val="0F2A33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 pitchFamily="34" charset="-120"/>
              </a:rPr>
              <a:t>Discharge</a:t>
            </a:r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1600" b="1" dirty="0">
                <a:solidFill>
                  <a:srgbClr val="0F2A33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 pitchFamily="34" charset="-120"/>
              </a:rPr>
              <a:t>packet</a:t>
            </a:r>
            <a:endParaRPr lang="en-US" sz="16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57200" y="2679192"/>
            <a:ext cx="20848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latin typeface="Cambria Math" panose="02040503050406030204" pitchFamily="18" charset="0"/>
                <a:ea typeface="Cambria Math" panose="02040503050406030204" pitchFamily="18" charset="0"/>
                <a:cs typeface="Calibri" pitchFamily="34" charset="-120"/>
              </a:rPr>
              <a:t>PDF · paste · photo</a:t>
            </a:r>
            <a:endParaRPr lang="en-US" sz="105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2542032" y="2249424"/>
            <a:ext cx="2560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A896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 pitchFamily="34" charset="-120"/>
              </a:rPr>
              <a:t>›</a:t>
            </a:r>
            <a:endParaRPr lang="en-US" sz="20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2798064" y="2249424"/>
            <a:ext cx="2084832" cy="658368"/>
          </a:xfrm>
          <a:prstGeom prst="roundRect">
            <a:avLst>
              <a:gd name="adj" fmla="val 8333"/>
            </a:avLst>
          </a:prstGeom>
          <a:solidFill>
            <a:srgbClr val="F6FBFA"/>
          </a:solidFill>
          <a:ln w="12700">
            <a:solidFill>
              <a:srgbClr val="CFE3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98064" y="2304288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600" b="1" dirty="0">
                <a:solidFill>
                  <a:srgbClr val="0F2A33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 pitchFamily="34" charset="-120"/>
              </a:rPr>
              <a:t>Claude</a:t>
            </a:r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1600" b="1" dirty="0">
                <a:solidFill>
                  <a:srgbClr val="0F2A33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 pitchFamily="34" charset="-120"/>
              </a:rPr>
              <a:t>extraction</a:t>
            </a:r>
            <a:endParaRPr lang="en-US" sz="16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2798064" y="2679192"/>
            <a:ext cx="20848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latin typeface="Cambria Math" panose="02040503050406030204" pitchFamily="18" charset="0"/>
                <a:ea typeface="Cambria Math" panose="02040503050406030204" pitchFamily="18" charset="0"/>
                <a:cs typeface="Calibri" pitchFamily="34" charset="-120"/>
              </a:rPr>
              <a:t>schema-constrained</a:t>
            </a:r>
            <a:endParaRPr lang="en-US" sz="105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882896" y="2249424"/>
            <a:ext cx="2560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A896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 pitchFamily="34" charset="-120"/>
              </a:rPr>
              <a:t>›</a:t>
            </a:r>
            <a:endParaRPr lang="en-US" sz="20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5138928" y="2249424"/>
            <a:ext cx="2084832" cy="658368"/>
          </a:xfrm>
          <a:prstGeom prst="roundRect">
            <a:avLst>
              <a:gd name="adj" fmla="val 8333"/>
            </a:avLst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138928" y="2304288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600" b="1" dirty="0">
                <a:latin typeface="Cambria Math" panose="02040503050406030204" pitchFamily="18" charset="0"/>
                <a:ea typeface="Cambria Math" panose="02040503050406030204" pitchFamily="18" charset="0"/>
                <a:cs typeface="Calibri" pitchFamily="34" charset="-120"/>
              </a:rPr>
              <a:t>GATE 1</a:t>
            </a:r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1600" b="1" dirty="0">
                <a:latin typeface="Cambria Math" panose="02040503050406030204" pitchFamily="18" charset="0"/>
                <a:ea typeface="Cambria Math" panose="02040503050406030204" pitchFamily="18" charset="0"/>
                <a:cs typeface="Calibri" pitchFamily="34" charset="-120"/>
              </a:rPr>
              <a:t>Quote verify</a:t>
            </a:r>
            <a:endParaRPr lang="en-US" sz="16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5138928" y="2679192"/>
            <a:ext cx="20848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latin typeface="Cambria Math" panose="02040503050406030204" pitchFamily="18" charset="0"/>
                <a:ea typeface="Cambria Math" panose="02040503050406030204" pitchFamily="18" charset="0"/>
                <a:cs typeface="Calibri" pitchFamily="34" charset="-120"/>
              </a:rPr>
              <a:t>no match → discarded</a:t>
            </a:r>
            <a:endParaRPr lang="en-US" sz="105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7223760" y="2249424"/>
            <a:ext cx="2560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A896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 pitchFamily="34" charset="-120"/>
              </a:rPr>
              <a:t>›</a:t>
            </a:r>
            <a:endParaRPr lang="en-US" sz="20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7479792" y="2249424"/>
            <a:ext cx="2084832" cy="658368"/>
          </a:xfrm>
          <a:prstGeom prst="roundRect">
            <a:avLst>
              <a:gd name="adj" fmla="val 8333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7526818" y="2331720"/>
            <a:ext cx="19907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600" b="1" dirty="0">
                <a:latin typeface="Cambria Math" panose="02040503050406030204" pitchFamily="18" charset="0"/>
                <a:ea typeface="Cambria Math" panose="02040503050406030204" pitchFamily="18" charset="0"/>
                <a:cs typeface="Calibri" pitchFamily="34" charset="-120"/>
              </a:rPr>
              <a:t>GATE 2</a:t>
            </a:r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1600" b="1" dirty="0">
                <a:latin typeface="Cambria Math" panose="02040503050406030204" pitchFamily="18" charset="0"/>
                <a:ea typeface="Cambria Math" panose="02040503050406030204" pitchFamily="18" charset="0"/>
                <a:cs typeface="Calibri" pitchFamily="34" charset="-120"/>
              </a:rPr>
              <a:t>Human confirm</a:t>
            </a:r>
            <a:endParaRPr lang="en-US" sz="16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7479792" y="2679192"/>
            <a:ext cx="20848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latin typeface="Cambria Math" panose="02040503050406030204" pitchFamily="18" charset="0"/>
                <a:ea typeface="Cambria Math" panose="02040503050406030204" pitchFamily="18" charset="0"/>
                <a:cs typeface="Calibri" pitchFamily="34" charset="-120"/>
              </a:rPr>
              <a:t>caregiver approves</a:t>
            </a:r>
            <a:endParaRPr lang="en-US" sz="105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9564624" y="2249424"/>
            <a:ext cx="2560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A896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 pitchFamily="34" charset="-120"/>
              </a:rPr>
              <a:t>›</a:t>
            </a:r>
            <a:endParaRPr lang="en-US" sz="20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9820656" y="2249424"/>
            <a:ext cx="2084832" cy="658368"/>
          </a:xfrm>
          <a:prstGeom prst="roundRect">
            <a:avLst>
              <a:gd name="adj" fmla="val 8333"/>
            </a:avLst>
          </a:prstGeom>
          <a:solidFill>
            <a:srgbClr val="F6FBFA"/>
          </a:solidFill>
          <a:ln w="12700">
            <a:solidFill>
              <a:srgbClr val="CFE3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820656" y="2304288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600" b="1" dirty="0">
                <a:solidFill>
                  <a:srgbClr val="0F2A33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 pitchFamily="34" charset="-120"/>
              </a:rPr>
              <a:t>Verified</a:t>
            </a:r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1600" b="1" dirty="0">
                <a:solidFill>
                  <a:srgbClr val="0F2A33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 pitchFamily="34" charset="-120"/>
              </a:rPr>
              <a:t>care plan</a:t>
            </a:r>
            <a:endParaRPr lang="en-US" sz="16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9820656" y="2679192"/>
            <a:ext cx="20848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latin typeface="Cambria Math" panose="02040503050406030204" pitchFamily="18" charset="0"/>
                <a:ea typeface="Cambria Math" panose="02040503050406030204" pitchFamily="18" charset="0"/>
                <a:cs typeface="Calibri" pitchFamily="34" charset="-120"/>
              </a:rPr>
              <a:t>reminders · share</a:t>
            </a:r>
            <a:endParaRPr lang="en-US" sz="105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457200" y="3127248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2809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 pitchFamily="34" charset="-120"/>
              </a:rPr>
              <a:t>KEY FEATURES &amp; AI CAPABILITIES</a:t>
            </a:r>
            <a:endParaRPr lang="en-US" sz="12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484632" y="3438144"/>
            <a:ext cx="91440" cy="9144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94944" y="3364992"/>
            <a:ext cx="5394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1150"/>
              </a:lnSpc>
              <a:buNone/>
            </a:pPr>
            <a:r>
              <a:rPr lang="en-US" sz="1100" b="1" dirty="0">
                <a:latin typeface="Cambria Math" panose="02040503050406030204" pitchFamily="18" charset="0"/>
                <a:ea typeface="Cambria Math" panose="02040503050406030204" pitchFamily="18" charset="0"/>
                <a:cs typeface="Calibri" pitchFamily="34" charset="-120"/>
              </a:rPr>
              <a:t>Quote grounding, enforced in code</a:t>
            </a:r>
            <a:endParaRPr lang="en-US" sz="11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 algn="just">
              <a:lnSpc>
                <a:spcPts val="1150"/>
              </a:lnSpc>
              <a:buNone/>
            </a:pPr>
            <a:r>
              <a:rPr lang="en-US" sz="1100" dirty="0">
                <a:latin typeface="Cambria Math" panose="02040503050406030204" pitchFamily="18" charset="0"/>
                <a:ea typeface="Cambria Math" panose="02040503050406030204" pitchFamily="18" charset="0"/>
                <a:cs typeface="Calibri" pitchFamily="34" charset="-120"/>
              </a:rPr>
              <a:t>Claude must return a verbatim source quote and page number for every item. The function verifies that quote exists in the document; if it doesn't, the item is discarded before it reaches the database.</a:t>
            </a:r>
            <a:endParaRPr lang="en-US" sz="11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484632" y="4078224"/>
            <a:ext cx="91440" cy="9144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94944" y="4005072"/>
            <a:ext cx="5394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1150"/>
              </a:lnSpc>
              <a:buNone/>
            </a:pPr>
            <a:r>
              <a:rPr lang="en-US" sz="1100" b="1" dirty="0">
                <a:latin typeface="Cambria Math" panose="02040503050406030204" pitchFamily="18" charset="0"/>
                <a:ea typeface="Cambria Math" panose="02040503050406030204" pitchFamily="18" charset="0"/>
                <a:cs typeface="Calibri" pitchFamily="34" charset="-120"/>
              </a:rPr>
              <a:t>Separate tables, not a boolean</a:t>
            </a:r>
            <a:endParaRPr lang="en-US" sz="11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 algn="just">
              <a:lnSpc>
                <a:spcPts val="1150"/>
              </a:lnSpc>
              <a:buNone/>
            </a:pPr>
            <a:r>
              <a:rPr lang="en-US" sz="1100" dirty="0">
                <a:latin typeface="Cambria Math" panose="02040503050406030204" pitchFamily="18" charset="0"/>
                <a:ea typeface="Cambria Math" panose="02040503050406030204" pitchFamily="18" charset="0"/>
                <a:cs typeface="Calibri" pitchFamily="34" charset="-120"/>
              </a:rPr>
              <a:t>AI output lands in candidate_items; the confirmed plan lives in plan_items. Promotion requires a person making unverified output in a care plan structurally impossible, not merely unlikely.</a:t>
            </a:r>
            <a:endParaRPr lang="en-US" sz="11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484632" y="4718304"/>
            <a:ext cx="91440" cy="9144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94944" y="4645152"/>
            <a:ext cx="5394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150"/>
              </a:lnSpc>
              <a:buNone/>
            </a:pPr>
            <a:r>
              <a:rPr lang="en-US" sz="1100" b="1" dirty="0">
                <a:latin typeface="Cambria Math" panose="02040503050406030204" pitchFamily="18" charset="0"/>
                <a:ea typeface="Cambria Math" panose="02040503050406030204" pitchFamily="18" charset="0"/>
                <a:cs typeface="Calibri" pitchFamily="34" charset="-120"/>
              </a:rPr>
              <a:t>Calibrated uncertainty</a:t>
            </a:r>
            <a:endParaRPr lang="en-US" sz="11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>
              <a:lnSpc>
                <a:spcPts val="1150"/>
              </a:lnSpc>
              <a:buNone/>
            </a:pPr>
            <a:r>
              <a:rPr lang="en-US" sz="1100" dirty="0">
                <a:latin typeface="Cambria Math" panose="02040503050406030204" pitchFamily="18" charset="0"/>
                <a:ea typeface="Cambria Math" panose="02040503050406030204" pitchFamily="18" charset="0"/>
                <a:cs typeface="Calibri" pitchFamily="34" charset="-120"/>
              </a:rPr>
              <a:t>Low-confidence items are flagged NEEDS REVIEW and sorted to the top. Photographed and handwritten documents can't be grounded, so they are force-flagged and can never be bulk-confirmed.</a:t>
            </a:r>
            <a:endParaRPr lang="en-US" sz="11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484632" y="5358384"/>
            <a:ext cx="91440" cy="9144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94944" y="5285232"/>
            <a:ext cx="5394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150"/>
              </a:lnSpc>
              <a:buNone/>
            </a:pPr>
            <a:r>
              <a:rPr lang="en-US" sz="1100" b="1" dirty="0">
                <a:latin typeface="Cambria Math" panose="02040503050406030204" pitchFamily="18" charset="0"/>
                <a:ea typeface="Cambria Math" panose="02040503050406030204" pitchFamily="18" charset="0"/>
                <a:cs typeface="Calibri" pitchFamily="34" charset="-120"/>
              </a:rPr>
              <a:t>Grounded retrieval, no parametric fallback</a:t>
            </a:r>
            <a:endParaRPr lang="en-US" sz="11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>
              <a:lnSpc>
                <a:spcPts val="1150"/>
              </a:lnSpc>
              <a:buNone/>
            </a:pPr>
            <a:r>
              <a:rPr lang="en-US" sz="1100" dirty="0">
                <a:latin typeface="Cambria Math" panose="02040503050406030204" pitchFamily="18" charset="0"/>
                <a:ea typeface="Cambria Math" panose="02040503050406030204" pitchFamily="18" charset="0"/>
                <a:cs typeface="Calibri" pitchFamily="34" charset="-120"/>
              </a:rPr>
              <a:t>pgvector RAG over trusted caregiver-education sources. Below the relevance threshold it says "I don't have a trusted source" instead of answering from model knowledge.</a:t>
            </a:r>
            <a:endParaRPr lang="en-US" sz="11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457200" y="5925312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50"/>
              </a:lnSpc>
              <a:buNone/>
            </a:pPr>
            <a:r>
              <a:rPr lang="en-US" sz="1050" i="1" dirty="0">
                <a:latin typeface="Cambria Math" panose="02040503050406030204" pitchFamily="18" charset="0"/>
                <a:ea typeface="Cambria Math" panose="02040503050406030204" pitchFamily="18" charset="0"/>
                <a:cs typeface="Calibri" pitchFamily="34" charset="-120"/>
              </a:rPr>
              <a:t>React · Vite · Netlify Functions · Supabase (Postgres, RLS, Auth, Storage, pgvector) · Anthropic Claude API · pdfjs-dist · Resend · Sentry</a:t>
            </a:r>
            <a:endParaRPr lang="en-US" sz="105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6355080" y="3127248"/>
            <a:ext cx="5349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2809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 pitchFamily="34" charset="-120"/>
              </a:rPr>
              <a:t>CURRENT STATUS</a:t>
            </a:r>
            <a:endParaRPr lang="en-US" sz="12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6355080" y="3559629"/>
            <a:ext cx="1325880" cy="210312"/>
          </a:xfrm>
          <a:prstGeom prst="roundRect">
            <a:avLst>
              <a:gd name="adj" fmla="val 21739"/>
            </a:avLst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09360" y="3545259"/>
            <a:ext cx="1325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 pitchFamily="34" charset="-120"/>
              </a:rPr>
              <a:t>COMPLETE</a:t>
            </a:r>
            <a:endParaRPr lang="en-US" sz="7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7818120" y="3355848"/>
            <a:ext cx="39044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1100"/>
              </a:lnSpc>
              <a:buNone/>
            </a:pPr>
            <a:r>
              <a:rPr lang="en-US" sz="1200" dirty="0">
                <a:solidFill>
                  <a:srgbClr val="0F2A33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 pitchFamily="34" charset="-120"/>
              </a:rPr>
              <a:t>Deployed and publicly live · Supabase Auth, care circles, RLS on every table · extract.mjs grounded extraction · PDF, paste and photo ingestion · review screen with confidence flags · confirm / edit / reject / remove lifecycle · guidance.mjs RAG retrieval · ask.mjs plan-scoped Q&amp;A · share.mjs family view</a:t>
            </a:r>
            <a:endParaRPr lang="en-US" sz="12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6355080" y="4261104"/>
            <a:ext cx="1325880" cy="210312"/>
          </a:xfrm>
          <a:prstGeom prst="roundRect">
            <a:avLst>
              <a:gd name="adj" fmla="val 21739"/>
            </a:avLst>
          </a:prstGeom>
          <a:solidFill>
            <a:srgbClr val="B26B00"/>
          </a:solidFill>
          <a:ln w="12700">
            <a:solidFill>
              <a:srgbClr val="B26B0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355080" y="4261104"/>
            <a:ext cx="1325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 pitchFamily="34" charset="-120"/>
              </a:rPr>
              <a:t>IN PROGRESS</a:t>
            </a:r>
            <a:endParaRPr lang="en-US" sz="11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7818120" y="4274820"/>
            <a:ext cx="39044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100"/>
              </a:lnSpc>
              <a:buNone/>
            </a:pPr>
            <a:r>
              <a:rPr lang="en-US" sz="1200" dirty="0">
                <a:solidFill>
                  <a:srgbClr val="0F2A33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 pitchFamily="34" charset="-120"/>
              </a:rPr>
              <a:t>send-reminders.mjs scheduled email delivery via Resend · printable fridge sheet · 3–5 minute demo video</a:t>
            </a:r>
            <a:endParaRPr lang="en-US" sz="12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6355080" y="5120640"/>
            <a:ext cx="1325880" cy="210312"/>
          </a:xfrm>
          <a:prstGeom prst="roundRect">
            <a:avLst>
              <a:gd name="adj" fmla="val 21739"/>
            </a:avLst>
          </a:prstGeom>
          <a:solidFill>
            <a:srgbClr val="B23A48"/>
          </a:solidFill>
          <a:ln w="12700">
            <a:solidFill>
              <a:srgbClr val="B23A4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355080" y="5120640"/>
            <a:ext cx="1325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 pitchFamily="34" charset="-120"/>
              </a:rPr>
              <a:t>BLOCKED / AT RISK</a:t>
            </a:r>
            <a:endParaRPr lang="en-US" sz="105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7818120" y="5074920"/>
            <a:ext cx="39044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1100"/>
              </a:lnSpc>
              <a:buNone/>
            </a:pPr>
            <a:r>
              <a:rPr lang="en-US" sz="1200" dirty="0">
                <a:solidFill>
                  <a:srgbClr val="0F2A33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 pitchFamily="34" charset="-120"/>
              </a:rPr>
              <a:t>Caregiver interviews (5–8) not yet started - the insight-to-design traceability the sponsor rubric scores directly · security audit and prompt-injection test suite pending</a:t>
            </a:r>
            <a:endParaRPr lang="en-US" sz="12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6355080" y="5806440"/>
            <a:ext cx="5349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2809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 pitchFamily="34" charset="-120"/>
              </a:rPr>
              <a:t>SHOWCASE READINESS</a:t>
            </a:r>
            <a:endParaRPr lang="en-US" sz="12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6355080" y="6035040"/>
            <a:ext cx="5367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100"/>
              </a:lnSpc>
              <a:buNone/>
            </a:pPr>
            <a:r>
              <a:rPr lang="en-US" sz="1200" b="1" dirty="0">
                <a:solidFill>
                  <a:srgbClr val="0F2A33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 pitchFamily="34" charset="-120"/>
              </a:rPr>
              <a:t>Demoable now: </a:t>
            </a:r>
            <a:r>
              <a:rPr lang="en-US" sz="1200" dirty="0">
                <a:solidFill>
                  <a:srgbClr val="0F2A33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 pitchFamily="34" charset="-120"/>
              </a:rPr>
              <a:t>the full live flow on synthetic data. </a:t>
            </a:r>
            <a:r>
              <a:rPr lang="en-US" sz="1200" b="1" dirty="0">
                <a:solidFill>
                  <a:srgbClr val="0F2A33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 pitchFamily="34" charset="-120"/>
              </a:rPr>
              <a:t>Backup: </a:t>
            </a:r>
            <a:r>
              <a:rPr lang="en-US" sz="1200" dirty="0">
                <a:solidFill>
                  <a:srgbClr val="0F2A33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 pitchFamily="34" charset="-120"/>
              </a:rPr>
              <a:t>pre-recorded capture plus step screenshots if network or API fails.</a:t>
            </a:r>
            <a:endParaRPr lang="en-US" sz="12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49" name="Shape 47"/>
          <p:cNvSpPr/>
          <p:nvPr/>
        </p:nvSpPr>
        <p:spPr>
          <a:xfrm>
            <a:off x="457200" y="6364224"/>
            <a:ext cx="11247120" cy="365760"/>
          </a:xfrm>
          <a:prstGeom prst="roundRect">
            <a:avLst>
              <a:gd name="adj" fmla="val 13889"/>
            </a:avLst>
          </a:prstGeom>
          <a:solidFill>
            <a:srgbClr val="B26B00"/>
          </a:solidFill>
          <a:ln w="12700">
            <a:solidFill>
              <a:srgbClr val="B26B0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40080" y="6400800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bg2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AVAILABLE</a:t>
            </a:r>
            <a:r>
              <a:rPr lang="en-US" sz="1050" b="1" dirty="0">
                <a:solidFill>
                  <a:schemeClr val="bg2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:</a:t>
            </a:r>
            <a:r>
              <a:rPr lang="en-US" sz="1050" dirty="0">
                <a:solidFill>
                  <a:schemeClr val="bg2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1100" dirty="0">
                <a:solidFill>
                  <a:schemeClr val="bg2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Confirming my Student Government schedule for that date. I can present by pre-recorded video demo if needed, and will follow up with exact availability once confirmed.</a:t>
            </a:r>
            <a:endParaRPr lang="en-US" sz="1250" dirty="0">
              <a:solidFill>
                <a:schemeClr val="bg2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585</Words>
  <Application>Microsoft Office PowerPoint</Application>
  <PresentationFormat>Widescreen</PresentationFormat>
  <Paragraphs>45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Cambria Math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Aryan Bhagat</cp:lastModifiedBy>
  <cp:revision>2</cp:revision>
  <dcterms:created xsi:type="dcterms:W3CDTF">2026-08-20T00:54:25Z</dcterms:created>
  <dcterms:modified xsi:type="dcterms:W3CDTF">2026-08-20T01:12:32Z</dcterms:modified>
</cp:coreProperties>
</file>